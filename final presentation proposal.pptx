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6" r:id="rId7"/>
    <p:sldId id="267"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2A08-FE56-4F76-86E7-2C9D870900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305501-0DF8-4B39-85A8-9D1DC91FF4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006BD6-EC77-4D63-A6E1-646A3F11E278}"/>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5" name="Footer Placeholder 4">
            <a:extLst>
              <a:ext uri="{FF2B5EF4-FFF2-40B4-BE49-F238E27FC236}">
                <a16:creationId xmlns:a16="http://schemas.microsoft.com/office/drawing/2014/main" id="{3E5EC089-DFB8-45D4-86F1-E677CA3DD0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CBA35-8F02-44AF-BC19-BFEB4956E182}"/>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4100133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A667B-161B-477B-871B-C40C531620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A5F30A-D6F1-4723-8B64-25F6EF7B99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F8B4C1-F8C4-46F5-B007-78DAD3E432EC}"/>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5" name="Footer Placeholder 4">
            <a:extLst>
              <a:ext uri="{FF2B5EF4-FFF2-40B4-BE49-F238E27FC236}">
                <a16:creationId xmlns:a16="http://schemas.microsoft.com/office/drawing/2014/main" id="{77CC3586-E8D1-4E6F-BAF3-4277AEF37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61AC63-87E2-4005-9040-1E93EB50C057}"/>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450883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32B76-FDE7-4E48-A36C-979F463CFD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CEEA98-7E51-450F-863A-C640041FD8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FA90FC-7038-4F64-AD0A-0B082E58A862}"/>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5" name="Footer Placeholder 4">
            <a:extLst>
              <a:ext uri="{FF2B5EF4-FFF2-40B4-BE49-F238E27FC236}">
                <a16:creationId xmlns:a16="http://schemas.microsoft.com/office/drawing/2014/main" id="{FF9CBC30-AC8E-4396-9D83-4F3ADC78B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DBFB94-4D89-49BF-97AD-54C73C7DE7F6}"/>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443176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6CBA-BE45-4C6A-8025-40DD31878C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BDCA8F-7E16-462E-B176-D8DC8006CD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734617-1FCC-4FF8-BF83-A7869CA3E7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1B4031-530F-458D-BE42-D87A9631D14C}"/>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6" name="Footer Placeholder 5">
            <a:extLst>
              <a:ext uri="{FF2B5EF4-FFF2-40B4-BE49-F238E27FC236}">
                <a16:creationId xmlns:a16="http://schemas.microsoft.com/office/drawing/2014/main" id="{4982D139-2219-4C59-9DE0-314C298564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44F344-20E9-4F8B-BDD0-CD2D6A7460D8}"/>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115533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264AB-C4FF-4A65-AE0E-8BB09487D6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DE9A00-001C-4940-9E73-CCD06A38AA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77D4EB-1DCA-43D8-8EA8-D94347D72E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D914EC-4885-4CEC-AACC-C25A39C6DB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F8932-068D-4FB9-B9D3-11BCE7DC34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199A30-3341-4E55-949F-64883E4E6181}"/>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8" name="Footer Placeholder 7">
            <a:extLst>
              <a:ext uri="{FF2B5EF4-FFF2-40B4-BE49-F238E27FC236}">
                <a16:creationId xmlns:a16="http://schemas.microsoft.com/office/drawing/2014/main" id="{D55BB43A-D70C-45D9-8B10-58A5D393C6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F798FF-6DF1-43DC-9BD1-005EC081A48C}"/>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53428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50BF-6628-4431-BD30-56F8519B35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9EDC8C-7327-4A74-881D-657F1681CFD5}"/>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4" name="Footer Placeholder 3">
            <a:extLst>
              <a:ext uri="{FF2B5EF4-FFF2-40B4-BE49-F238E27FC236}">
                <a16:creationId xmlns:a16="http://schemas.microsoft.com/office/drawing/2014/main" id="{30DF193C-1B63-4381-AF35-83817FD7CC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B735B5-916C-4ED4-9B4D-EF9A05B5FBFB}"/>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3965496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F91C96-E0D9-4751-BF6C-66001D72F10C}"/>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3" name="Footer Placeholder 2">
            <a:extLst>
              <a:ext uri="{FF2B5EF4-FFF2-40B4-BE49-F238E27FC236}">
                <a16:creationId xmlns:a16="http://schemas.microsoft.com/office/drawing/2014/main" id="{91540384-713E-4F46-8F1A-3A47E9CC7B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B3BA54-14A7-4F8E-B692-CE59DB9DA46E}"/>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72867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4D10-508C-4342-B379-C68877933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F497A-291D-4A1E-A438-B133CF8B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D081CE-5E6A-4DDF-AA87-B7F58D363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478E04-3BF3-4BF8-8AE7-EC4294702773}"/>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6" name="Footer Placeholder 5">
            <a:extLst>
              <a:ext uri="{FF2B5EF4-FFF2-40B4-BE49-F238E27FC236}">
                <a16:creationId xmlns:a16="http://schemas.microsoft.com/office/drawing/2014/main" id="{F7EE19D2-C5AD-4264-8644-AB9EDFD228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5D8C5F-E3E0-4F08-8614-2DD288943B7E}"/>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1974900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6A63-E098-440C-9324-9327958C47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030D54-70B2-454F-AF31-4B777DDF3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019DB4-34B1-4C13-A20B-2C1470E50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22EFA7-4679-42A4-A3D9-89E13300D1AE}"/>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6" name="Footer Placeholder 5">
            <a:extLst>
              <a:ext uri="{FF2B5EF4-FFF2-40B4-BE49-F238E27FC236}">
                <a16:creationId xmlns:a16="http://schemas.microsoft.com/office/drawing/2014/main" id="{6B84FBFA-223E-4AA6-9071-115F091478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DBD625-941C-40C4-88CA-41377D750C66}"/>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733321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AEB7-5C62-4FD5-8667-C8D401BC6B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C7A483-A7F3-4B15-BC7D-C9DA3C9C51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4709E-8F1D-421C-87E0-743FACF22818}"/>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5" name="Footer Placeholder 4">
            <a:extLst>
              <a:ext uri="{FF2B5EF4-FFF2-40B4-BE49-F238E27FC236}">
                <a16:creationId xmlns:a16="http://schemas.microsoft.com/office/drawing/2014/main" id="{7843BA16-3DE9-4E4A-9281-ABBBCBC41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68303-89C1-4EBD-8A68-9359F4190501}"/>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74445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ACA4C-E3AF-4F89-8436-D9DD4DA966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1C658B-FAB3-49D1-9D0F-642235C782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69CE98-6602-4B70-B734-62E9EF78DF18}"/>
              </a:ext>
            </a:extLst>
          </p:cNvPr>
          <p:cNvSpPr>
            <a:spLocks noGrp="1"/>
          </p:cNvSpPr>
          <p:nvPr>
            <p:ph type="dt" sz="half" idx="10"/>
          </p:nvPr>
        </p:nvSpPr>
        <p:spPr/>
        <p:txBody>
          <a:bodyPr/>
          <a:lstStyle/>
          <a:p>
            <a:fld id="{4F6A6B05-477C-4018-831A-99A433A479E5}" type="datetimeFigureOut">
              <a:rPr lang="en-US" smtClean="0"/>
              <a:t>3/29/2026</a:t>
            </a:fld>
            <a:endParaRPr lang="en-US"/>
          </a:p>
        </p:txBody>
      </p:sp>
      <p:sp>
        <p:nvSpPr>
          <p:cNvPr id="5" name="Footer Placeholder 4">
            <a:extLst>
              <a:ext uri="{FF2B5EF4-FFF2-40B4-BE49-F238E27FC236}">
                <a16:creationId xmlns:a16="http://schemas.microsoft.com/office/drawing/2014/main" id="{6BB02744-19FF-4D76-BB18-580C00FA9A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7B5138-96EA-4504-9116-D667625FEA13}"/>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742962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B91A48-CF03-4928-8B7D-03C1C2FA5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8748D7-4B4C-4ADA-B3E0-ED7A61322D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97F35-3AD2-4DC3-B635-CA8009A94F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6A6B05-477C-4018-831A-99A433A479E5}" type="datetimeFigureOut">
              <a:rPr lang="en-US" smtClean="0"/>
              <a:t>3/29/2026</a:t>
            </a:fld>
            <a:endParaRPr lang="en-US"/>
          </a:p>
        </p:txBody>
      </p:sp>
      <p:sp>
        <p:nvSpPr>
          <p:cNvPr id="5" name="Footer Placeholder 4">
            <a:extLst>
              <a:ext uri="{FF2B5EF4-FFF2-40B4-BE49-F238E27FC236}">
                <a16:creationId xmlns:a16="http://schemas.microsoft.com/office/drawing/2014/main" id="{FF9A6452-8A5D-484F-95EF-44504C6A4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E220DE-902D-454D-93B5-AF88FBCEF5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28BDB-18F4-47D8-AFA0-213D348E2BDB}" type="slidenum">
              <a:rPr lang="en-US" smtClean="0"/>
              <a:t>‹#›</a:t>
            </a:fld>
            <a:endParaRPr lang="en-US"/>
          </a:p>
        </p:txBody>
      </p:sp>
    </p:spTree>
    <p:extLst>
      <p:ext uri="{BB962C8B-B14F-4D97-AF65-F5344CB8AC3E}">
        <p14:creationId xmlns:p14="http://schemas.microsoft.com/office/powerpoint/2010/main" val="2742190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43CCCDE-FE42-4AD4-B946-21AD1E486B0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26">
            <a:extLst>
              <a:ext uri="{FF2B5EF4-FFF2-40B4-BE49-F238E27FC236}">
                <a16:creationId xmlns:a16="http://schemas.microsoft.com/office/drawing/2014/main" id="{62F8D36E-13AE-42A5-9DEA-AEAB99B9B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448" y="457200"/>
            <a:ext cx="3543300" cy="23435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315DA55-917D-4F7E-8700-AB4725AABAA0}"/>
              </a:ext>
            </a:extLst>
          </p:cNvPr>
          <p:cNvSpPr>
            <a:spLocks noChangeArrowheads="1"/>
          </p:cNvSpPr>
          <p:nvPr/>
        </p:nvSpPr>
        <p:spPr bwMode="auto">
          <a:xfrm>
            <a:off x="0" y="3264694"/>
            <a:ext cx="1196788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NAME: NEEMA  MAGABE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REG NO:22/00135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COURSE: BACHELOR OF SCIENCE IN DATA SCIENCE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UNIT: ONE SEMESTER PROJECT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TITLE: TELCOM CUSTOMER CHURN PREDICTION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SUPERVISOR:LISPER KENDI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637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F3E6-C0F0-4BE2-A740-A87443A7949B}"/>
              </a:ext>
            </a:extLst>
          </p:cNvPr>
          <p:cNvSpPr>
            <a:spLocks noGrp="1"/>
          </p:cNvSpPr>
          <p:nvPr>
            <p:ph type="ctrTitle"/>
          </p:nvPr>
        </p:nvSpPr>
        <p:spPr>
          <a:xfrm>
            <a:off x="1524000" y="1"/>
            <a:ext cx="9144000" cy="1586752"/>
          </a:xfrm>
        </p:spPr>
        <p:txBody>
          <a:bodyPr/>
          <a:lstStyle/>
          <a:p>
            <a:r>
              <a:rPr lang="en-US" sz="1800" b="1" kern="0" dirty="0">
                <a:solidFill>
                  <a:srgbClr val="000000"/>
                </a:solidFill>
                <a:effectLst/>
                <a:latin typeface="Times New Roman" panose="02020603050405020304" pitchFamily="18" charset="0"/>
                <a:ea typeface="Times New Roman" panose="02020603050405020304" pitchFamily="18" charset="0"/>
              </a:rPr>
              <a:t>INTROCUTION </a:t>
            </a:r>
            <a:br>
              <a:rPr lang="en-US" sz="1800" b="1" kern="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E17BE112-BDE0-4A6F-83F2-C8B787ACBEA3}"/>
              </a:ext>
            </a:extLst>
          </p:cNvPr>
          <p:cNvSpPr>
            <a:spLocks noGrp="1"/>
          </p:cNvSpPr>
          <p:nvPr>
            <p:ph type="subTitle" idx="1"/>
          </p:nvPr>
        </p:nvSpPr>
        <p:spPr>
          <a:xfrm>
            <a:off x="4481" y="1035424"/>
            <a:ext cx="11869271" cy="5822575"/>
          </a:xfrm>
        </p:spPr>
        <p:txBody>
          <a:bodyPr>
            <a:normAutofit/>
          </a:bodyPr>
          <a:lstStyle/>
          <a:p>
            <a:pPr marL="6350" indent="-6350">
              <a:lnSpc>
                <a:spcPct val="104000"/>
              </a:lnSpc>
              <a:spcAft>
                <a:spcPts val="1335"/>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Customer churn refers to the situation where customers discontinue their services with a provider within a given period.</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Customer churn has become one of the most critical challenges facing telecommunication companies in today’s highly competitive market. With many service providers offering similar call, data, and messaging packages, customers can easily switch from one network to another if they feel dissatisfied. As a result, telecom companies are losing a significant number of customers every year, which directly affects revenue and long-term sustainability. Understanding why customers leave and predicting who is likely to churn is therefore very important.</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09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FE21-7501-47D4-BE63-5818B7E22F3A}"/>
              </a:ext>
            </a:extLst>
          </p:cNvPr>
          <p:cNvSpPr>
            <a:spLocks noGrp="1"/>
          </p:cNvSpPr>
          <p:nvPr>
            <p:ph type="ctrTitle"/>
          </p:nvPr>
        </p:nvSpPr>
        <p:spPr>
          <a:xfrm>
            <a:off x="1524000" y="188259"/>
            <a:ext cx="9144000" cy="1183341"/>
          </a:xfrm>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BACKGROUND STUDY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002C2F34-746A-4BDC-8188-DB05205F9C03}"/>
              </a:ext>
            </a:extLst>
          </p:cNvPr>
          <p:cNvSpPr>
            <a:spLocks noGrp="1"/>
          </p:cNvSpPr>
          <p:nvPr>
            <p:ph type="subTitle" idx="1"/>
          </p:nvPr>
        </p:nvSpPr>
        <p:spPr>
          <a:xfrm>
            <a:off x="188259" y="820271"/>
            <a:ext cx="11873753" cy="5849470"/>
          </a:xfrm>
        </p:spPr>
        <p:txBody>
          <a:bodyPr>
            <a:normAutofit/>
          </a:bodyPr>
          <a:lstStyle/>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The telecommunications industry has experienced rapid growth over the past two years, driven by advancements in mobile technology, internet connectivity, and digital services. As the number of subscribers increases, competition among telecom operators has also intensified. Companies now focus not only on acquiring new customers but also on retaining existing ones, as customer acquisition is often more expensive than retention. </a:t>
            </a:r>
          </a:p>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With the rise of big data and machine learning, data-driven decision-making has become a powerful tool in addressing customer churn. Telecom companies collect large volumes of customer data, including usage patterns, billing information, and service interactions. When analyzed properly, this data can provide valuable insights that help predict churn and support strategic business decisions. </a:t>
            </a:r>
          </a:p>
          <a:p>
            <a:endParaRPr lang="en-US" dirty="0"/>
          </a:p>
        </p:txBody>
      </p:sp>
    </p:spTree>
    <p:extLst>
      <p:ext uri="{BB962C8B-B14F-4D97-AF65-F5344CB8AC3E}">
        <p14:creationId xmlns:p14="http://schemas.microsoft.com/office/powerpoint/2010/main" val="2478673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63DC-5AB2-4546-8E5F-3D5A1845D3DE}"/>
              </a:ext>
            </a:extLst>
          </p:cNvPr>
          <p:cNvSpPr>
            <a:spLocks noGrp="1"/>
          </p:cNvSpPr>
          <p:nvPr>
            <p:ph type="ctrTitle"/>
          </p:nvPr>
        </p:nvSpPr>
        <p:spPr>
          <a:xfrm>
            <a:off x="1524000" y="334403"/>
            <a:ext cx="9144000" cy="1655762"/>
          </a:xfrm>
        </p:spPr>
        <p:txBody>
          <a:bodyPr>
            <a:normAutofit/>
          </a:bodyPr>
          <a:lstStyle/>
          <a:p>
            <a:pPr marL="6350" indent="-6350">
              <a:lnSpc>
                <a:spcPct val="107000"/>
              </a:lnSpc>
              <a:spcAft>
                <a:spcPts val="790"/>
              </a:spcAft>
            </a:pPr>
            <a:r>
              <a:rPr lang="en-US" sz="1800" dirty="0">
                <a:solidFill>
                  <a:srgbClr val="000000"/>
                </a:solidFill>
                <a:effectLst/>
                <a:latin typeface="Times New Roman" panose="02020603050405020304" pitchFamily="18" charset="0"/>
                <a:ea typeface="Times New Roman" panose="02020603050405020304" pitchFamily="18" charset="0"/>
              </a:rPr>
              <a:t>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b="1" dirty="0">
                <a:solidFill>
                  <a:srgbClr val="000000"/>
                </a:solidFill>
                <a:effectLst/>
                <a:latin typeface="Times New Roman" panose="02020603050405020304" pitchFamily="18" charset="0"/>
                <a:ea typeface="Times New Roman" panose="02020603050405020304" pitchFamily="18" charset="0"/>
              </a:rPr>
              <a:t>PROBLEM STATEMENT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7BA0610F-FD95-4BE8-AABE-5C837D7EA5D1}"/>
              </a:ext>
            </a:extLst>
          </p:cNvPr>
          <p:cNvSpPr>
            <a:spLocks noGrp="1"/>
          </p:cNvSpPr>
          <p:nvPr>
            <p:ph type="subTitle" idx="1"/>
          </p:nvPr>
        </p:nvSpPr>
        <p:spPr>
          <a:xfrm>
            <a:off x="201706" y="1411942"/>
            <a:ext cx="11990294" cy="4249270"/>
          </a:xfrm>
        </p:spPr>
        <p:txBody>
          <a:bodyPr>
            <a:normAutofit/>
          </a:bodyPr>
          <a:lstStyle/>
          <a:p>
            <a:r>
              <a:rPr lang="en-US" dirty="0">
                <a:solidFill>
                  <a:srgbClr val="000000"/>
                </a:solidFill>
                <a:effectLst/>
                <a:latin typeface="Times New Roman" panose="02020603050405020304" pitchFamily="18" charset="0"/>
                <a:ea typeface="Times New Roman" panose="02020603050405020304" pitchFamily="18" charset="0"/>
              </a:rPr>
              <a:t>My research is to help telecom company to reduce number of  churn, telecommunication companies loss high number of customers due to intense market competition with numerous service provider offering the similar packages and low switching cost, thus customer have many choices. Despite collecting large amount of customer data many telecom providers are unable to effectively identify customers who are likely to stop using their services until the customer cancel the subscription. This lack of early churn prediction leads to revenue loss and increased costs associated with acquiring new customers. Therefore, there is need for a data-driven approach that can accurately predict customer churn and identify the key factors contributing to customer attrition </a:t>
            </a:r>
          </a:p>
          <a:p>
            <a:endParaRPr lang="en-US" dirty="0"/>
          </a:p>
        </p:txBody>
      </p:sp>
    </p:spTree>
    <p:extLst>
      <p:ext uri="{BB962C8B-B14F-4D97-AF65-F5344CB8AC3E}">
        <p14:creationId xmlns:p14="http://schemas.microsoft.com/office/powerpoint/2010/main" val="517500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E08D3-7C73-41CF-86AD-73D3CA1A53CC}"/>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OBJECTIVES OF THE STUDY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36810B5-EFD0-4A8D-B3DF-5A554BBE2504}"/>
              </a:ext>
            </a:extLst>
          </p:cNvPr>
          <p:cNvSpPr>
            <a:spLocks noGrp="1"/>
          </p:cNvSpPr>
          <p:nvPr>
            <p:ph idx="1"/>
          </p:nvPr>
        </p:nvSpPr>
        <p:spPr/>
        <p:txBody>
          <a:bodyPr>
            <a:normAutofit fontScale="92500" lnSpcReduction="20000"/>
          </a:bodyPr>
          <a:lstStyle/>
          <a:p>
            <a:pPr marL="539750" indent="0">
              <a:lnSpc>
                <a:spcPct val="104000"/>
              </a:lnSpc>
              <a:spcAft>
                <a:spcPts val="840"/>
              </a:spcAft>
              <a:buNone/>
            </a:pPr>
            <a:r>
              <a:rPr lang="en-US" sz="2400" b="1" dirty="0">
                <a:solidFill>
                  <a:srgbClr val="000000"/>
                </a:solidFill>
                <a:effectLst/>
                <a:latin typeface="Times New Roman" panose="02020603050405020304" pitchFamily="18" charset="0"/>
                <a:ea typeface="Times New Roman" panose="02020603050405020304" pitchFamily="18" charset="0"/>
              </a:rPr>
              <a:t>Main objective</a:t>
            </a:r>
            <a:r>
              <a:rPr lang="en-US" sz="2400" dirty="0">
                <a:solidFill>
                  <a:srgbClr val="000000"/>
                </a:solidFill>
                <a:effectLst/>
                <a:latin typeface="Times New Roman" panose="02020603050405020304" pitchFamily="18" charset="0"/>
                <a:ea typeface="Times New Roman" panose="02020603050405020304" pitchFamily="18" charset="0"/>
              </a:rPr>
              <a:t>:</a:t>
            </a:r>
          </a:p>
          <a:p>
            <a:pPr marL="539750" indent="0">
              <a:lnSpc>
                <a:spcPct val="104000"/>
              </a:lnSpc>
              <a:spcAft>
                <a:spcPts val="840"/>
              </a:spcAft>
              <a:buNone/>
            </a:pPr>
            <a:r>
              <a:rPr lang="en-US" sz="2400" dirty="0">
                <a:solidFill>
                  <a:srgbClr val="000000"/>
                </a:solidFill>
                <a:effectLst/>
                <a:latin typeface="Times New Roman" panose="02020603050405020304" pitchFamily="18" charset="0"/>
                <a:ea typeface="Times New Roman" panose="02020603050405020304" pitchFamily="18" charset="0"/>
              </a:rPr>
              <a:t>To develop model that predict customer churn in the telecommunication industry. </a:t>
            </a:r>
          </a:p>
          <a:p>
            <a:pPr marL="546100" indent="-6350">
              <a:lnSpc>
                <a:spcPct val="104000"/>
              </a:lnSpc>
              <a:spcAft>
                <a:spcPts val="1530"/>
              </a:spcAft>
            </a:pPr>
            <a:r>
              <a:rPr lang="en-US" sz="2400" b="1" dirty="0">
                <a:solidFill>
                  <a:srgbClr val="000000"/>
                </a:solidFill>
                <a:effectLst/>
                <a:latin typeface="Times New Roman" panose="02020603050405020304" pitchFamily="18" charset="0"/>
                <a:ea typeface="Times New Roman" panose="02020603050405020304" pitchFamily="18" charset="0"/>
              </a:rPr>
              <a:t>Specific objectives:  </a:t>
            </a:r>
          </a:p>
          <a:p>
            <a:pPr marL="342900" lvl="0" indent="-342900" fontAlgn="base">
              <a:lnSpc>
                <a:spcPct val="104000"/>
              </a:lnSpc>
              <a:spcAft>
                <a:spcPts val="50"/>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review and analyze existing telecom customer churn prediction techniques and systems </a:t>
            </a:r>
          </a:p>
          <a:p>
            <a:pPr marL="342900" lvl="0" indent="-342900" fontAlgn="base">
              <a:lnSpc>
                <a:spcPct val="104000"/>
              </a:lnSpc>
              <a:spcAft>
                <a:spcPts val="45"/>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design a churn prediction framework using data science and machine learning approaches </a:t>
            </a:r>
          </a:p>
          <a:p>
            <a:pPr marL="342900" lvl="0" indent="-342900" fontAlgn="base">
              <a:lnSpc>
                <a:spcPct val="104000"/>
              </a:lnSpc>
              <a:spcAft>
                <a:spcPts val="50"/>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develop a predictive churn model using Python and relevant libraries </a:t>
            </a:r>
          </a:p>
          <a:p>
            <a:pPr marL="342900" lvl="0" indent="-342900" fontAlgn="base">
              <a:lnSpc>
                <a:spcPct val="104000"/>
              </a:lnSpc>
              <a:spcAft>
                <a:spcPts val="1100"/>
              </a:spcAft>
              <a:buClr>
                <a:srgbClr val="000000"/>
              </a:buClr>
              <a:buSzPts val="1200"/>
              <a:buFont typeface="Arial" panose="020B0604020202020204" pitchFamily="34" charset="0"/>
              <a:buChar char="•"/>
            </a:pPr>
            <a:r>
              <a:rPr lang="en-US" sz="24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To validate the model’s performance using appropriate evaluation metrics  like precision,f1-score</a:t>
            </a:r>
          </a:p>
          <a:p>
            <a:endParaRPr lang="en-US" dirty="0"/>
          </a:p>
        </p:txBody>
      </p:sp>
    </p:spTree>
    <p:extLst>
      <p:ext uri="{BB962C8B-B14F-4D97-AF65-F5344CB8AC3E}">
        <p14:creationId xmlns:p14="http://schemas.microsoft.com/office/powerpoint/2010/main" val="3895880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A08B-7C27-4C1C-A190-0C4907A78734}"/>
              </a:ext>
            </a:extLst>
          </p:cNvPr>
          <p:cNvSpPr>
            <a:spLocks noGrp="1"/>
          </p:cNvSpPr>
          <p:nvPr>
            <p:ph type="title"/>
          </p:nvPr>
        </p:nvSpPr>
        <p:spPr/>
        <p:txBody>
          <a:bodyPr>
            <a:normAutofit/>
          </a:bodyPr>
          <a:lstStyle/>
          <a:p>
            <a:r>
              <a:rPr lang="en-US" sz="2000" b="1" dirty="0">
                <a:solidFill>
                  <a:srgbClr val="000000"/>
                </a:solidFill>
                <a:effectLst/>
                <a:latin typeface="Times New Roman" panose="02020603050405020304" pitchFamily="18" charset="0"/>
                <a:ea typeface="Times New Roman" panose="02020603050405020304" pitchFamily="18" charset="0"/>
              </a:rPr>
              <a:t>METHODOLOGY</a:t>
            </a:r>
            <a:endParaRPr lang="en-US" sz="2000" dirty="0"/>
          </a:p>
        </p:txBody>
      </p:sp>
      <p:sp>
        <p:nvSpPr>
          <p:cNvPr id="3" name="Content Placeholder 2">
            <a:extLst>
              <a:ext uri="{FF2B5EF4-FFF2-40B4-BE49-F238E27FC236}">
                <a16:creationId xmlns:a16="http://schemas.microsoft.com/office/drawing/2014/main" id="{58D92161-D45C-4AAA-AE41-9265ED536C43}"/>
              </a:ext>
            </a:extLst>
          </p:cNvPr>
          <p:cNvSpPr>
            <a:spLocks noGrp="1"/>
          </p:cNvSpPr>
          <p:nvPr>
            <p:ph idx="1"/>
          </p:nvPr>
        </p:nvSpPr>
        <p:spPr>
          <a:xfrm>
            <a:off x="838200" y="1398494"/>
            <a:ext cx="10515600" cy="4778469"/>
          </a:xfrm>
        </p:spPr>
        <p:txBody>
          <a:bodyPr>
            <a:normAutofit fontScale="92500"/>
          </a:bodyPr>
          <a:lstStyle/>
          <a:p>
            <a:pPr marL="0" indent="0">
              <a:buNone/>
            </a:pPr>
            <a:r>
              <a:rPr lang="en-US" sz="2000" b="1" dirty="0">
                <a:latin typeface="Times New Roman" panose="02020603050405020304" pitchFamily="18" charset="0"/>
                <a:cs typeface="Times New Roman" panose="02020603050405020304" pitchFamily="18" charset="0"/>
              </a:rPr>
              <a:t>Data  collection</a:t>
            </a:r>
          </a:p>
          <a:p>
            <a:r>
              <a:rPr lang="en-US" sz="2000" dirty="0">
                <a:latin typeface="Times New Roman" panose="02020603050405020304" pitchFamily="18" charset="0"/>
                <a:cs typeface="Times New Roman" panose="02020603050405020304" pitchFamily="18" charset="0"/>
              </a:rPr>
              <a:t>I will  use a publicly available telecom customer churn dataset from Kaggle as the main data source, supported by additional academic research to understand churn concepts and prediction techniques.</a:t>
            </a:r>
          </a:p>
          <a:p>
            <a:pPr marL="0" indent="0">
              <a:buNone/>
            </a:pPr>
            <a:r>
              <a:rPr lang="en-US" sz="2000" b="1" dirty="0">
                <a:latin typeface="Times New Roman" panose="02020603050405020304" pitchFamily="18" charset="0"/>
                <a:cs typeface="Times New Roman" panose="02020603050405020304" pitchFamily="18" charset="0"/>
              </a:rPr>
              <a:t>Data cleaning</a:t>
            </a:r>
          </a:p>
          <a:p>
            <a:r>
              <a:rPr lang="en-US" sz="2000" dirty="0">
                <a:latin typeface="Times New Roman" panose="02020603050405020304" pitchFamily="18" charset="0"/>
                <a:cs typeface="Times New Roman" panose="02020603050405020304" pitchFamily="18" charset="0"/>
              </a:rPr>
              <a:t>Data preprocessing and exploratory data analysis :I will conduct to  improve data quality and identify patterns. This included handling missing values, encoding categorical variables, removing irrelevant features, and using statistical analysis and visualizations to explore relationships in the data.</a:t>
            </a:r>
          </a:p>
          <a:p>
            <a:pPr marL="0" indent="0">
              <a:buNone/>
            </a:pPr>
            <a:r>
              <a:rPr lang="en-US" sz="2000" b="1" dirty="0">
                <a:latin typeface="Times New Roman" panose="02020603050405020304" pitchFamily="18" charset="0"/>
                <a:cs typeface="Times New Roman" panose="02020603050405020304" pitchFamily="18" charset="0"/>
              </a:rPr>
              <a:t>modeling</a:t>
            </a:r>
          </a:p>
          <a:p>
            <a:r>
              <a:rPr lang="en-US" sz="2000" dirty="0">
                <a:latin typeface="Times New Roman" panose="02020603050405020304" pitchFamily="18" charset="0"/>
                <a:cs typeface="Times New Roman" panose="02020603050405020304" pitchFamily="18" charset="0"/>
              </a:rPr>
              <a:t>For modeling, I will apply machine learning techniques such as logistic regression and random forest to predict customer churn. Model performance will be evaluated using accuracy, precision, and F1-score.</a:t>
            </a:r>
          </a:p>
          <a:p>
            <a:r>
              <a:rPr lang="en-US" sz="2000" dirty="0">
                <a:latin typeface="Times New Roman" panose="02020603050405020304" pitchFamily="18" charset="0"/>
                <a:cs typeface="Times New Roman" panose="02020603050405020304" pitchFamily="18" charset="0"/>
              </a:rPr>
              <a:t>I will implement my project using Python, with libraries such as Pandas and NumPy for data processing, Matplotlib and Seaborn for visualization, and Scikit-learn for modeling. </a:t>
            </a:r>
          </a:p>
          <a:p>
            <a:r>
              <a:rPr lang="en-US" sz="2000" dirty="0">
                <a:latin typeface="Times New Roman" panose="02020603050405020304" pitchFamily="18" charset="0"/>
                <a:cs typeface="Times New Roman" panose="02020603050405020304" pitchFamily="18" charset="0"/>
              </a:rPr>
              <a:t>I will use Jupyter Notebook as the  integrated development environment to execute and document the work.</a:t>
            </a:r>
          </a:p>
          <a:p>
            <a:endParaRPr lang="en-US" dirty="0"/>
          </a:p>
        </p:txBody>
      </p:sp>
    </p:spTree>
    <p:extLst>
      <p:ext uri="{BB962C8B-B14F-4D97-AF65-F5344CB8AC3E}">
        <p14:creationId xmlns:p14="http://schemas.microsoft.com/office/powerpoint/2010/main" val="4290573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EE3B-5752-40C0-900A-0033EC2A27DF}"/>
              </a:ext>
            </a:extLst>
          </p:cNvPr>
          <p:cNvSpPr>
            <a:spLocks noGrp="1"/>
          </p:cNvSpPr>
          <p:nvPr>
            <p:ph type="ctrTitle"/>
          </p:nvPr>
        </p:nvSpPr>
        <p:spPr>
          <a:xfrm>
            <a:off x="434788" y="-1023750"/>
            <a:ext cx="9144000" cy="3025869"/>
          </a:xfrm>
        </p:spPr>
        <p:txBody>
          <a:bodyPr/>
          <a:lstStyle/>
          <a:p>
            <a:pPr algn="l"/>
            <a:r>
              <a:rPr lang="en-US" sz="2000" b="1" dirty="0">
                <a:latin typeface="Times New Roman" panose="02020603050405020304" pitchFamily="18" charset="0"/>
                <a:cs typeface="Times New Roman" panose="02020603050405020304" pitchFamily="18" charset="0"/>
              </a:rPr>
              <a:t>Expected result</a:t>
            </a:r>
            <a:br>
              <a:rPr lang="en-US" dirty="0"/>
            </a:br>
            <a:endParaRPr lang="en-US" dirty="0"/>
          </a:p>
        </p:txBody>
      </p:sp>
      <p:sp>
        <p:nvSpPr>
          <p:cNvPr id="3" name="Subtitle 2">
            <a:extLst>
              <a:ext uri="{FF2B5EF4-FFF2-40B4-BE49-F238E27FC236}">
                <a16:creationId xmlns:a16="http://schemas.microsoft.com/office/drawing/2014/main" id="{CFC4B247-C25D-40D1-A700-4D6262A4DEFC}"/>
              </a:ext>
            </a:extLst>
          </p:cNvPr>
          <p:cNvSpPr>
            <a:spLocks noGrp="1"/>
          </p:cNvSpPr>
          <p:nvPr>
            <p:ph type="subTitle" idx="1"/>
          </p:nvPr>
        </p:nvSpPr>
        <p:spPr>
          <a:xfrm>
            <a:off x="434788" y="1694329"/>
            <a:ext cx="10233212" cy="3563471"/>
          </a:xfrm>
        </p:spPr>
        <p:txBody>
          <a:bodyPr>
            <a:normAutofit/>
          </a:bodyPr>
          <a:lstStyle/>
          <a:p>
            <a:pPr algn="l"/>
            <a:r>
              <a:rPr lang="en-US" sz="2000" b="1" dirty="0">
                <a:latin typeface="Times New Roman" panose="02020603050405020304" pitchFamily="18" charset="0"/>
                <a:cs typeface="Times New Roman" panose="02020603050405020304" pitchFamily="18" charset="0"/>
              </a:rPr>
              <a:t>Functional Predictive Engine:</a:t>
            </a:r>
            <a:r>
              <a:rPr lang="en-US" sz="2000" dirty="0">
                <a:latin typeface="Times New Roman" panose="02020603050405020304" pitchFamily="18" charset="0"/>
                <a:cs typeface="Times New Roman" panose="02020603050405020304" pitchFamily="18" charset="0"/>
              </a:rPr>
              <a:t> A trained Logistic Regression model that accurately predicts if a customer will stay or leave and why are they leaving.</a:t>
            </a:r>
          </a:p>
        </p:txBody>
      </p:sp>
    </p:spTree>
    <p:extLst>
      <p:ext uri="{BB962C8B-B14F-4D97-AF65-F5344CB8AC3E}">
        <p14:creationId xmlns:p14="http://schemas.microsoft.com/office/powerpoint/2010/main" val="2147670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5B82-B894-408A-859F-FD24F042E03A}"/>
              </a:ext>
            </a:extLst>
          </p:cNvPr>
          <p:cNvSpPr>
            <a:spLocks noGrp="1"/>
          </p:cNvSpPr>
          <p:nvPr>
            <p:ph type="title"/>
          </p:nvPr>
        </p:nvSpPr>
        <p:spPr>
          <a:xfrm>
            <a:off x="838200" y="94130"/>
            <a:ext cx="10515600" cy="551330"/>
          </a:xfrm>
        </p:spPr>
        <p:txBody>
          <a:bodyPr>
            <a:normAutofit fontScale="90000"/>
          </a:bodyPr>
          <a:lstStyle/>
          <a:p>
            <a:pPr marL="539750" indent="-6350">
              <a:lnSpc>
                <a:spcPct val="107000"/>
              </a:lnSpc>
              <a:spcAft>
                <a:spcPts val="780"/>
              </a:spcAft>
            </a:pPr>
            <a:r>
              <a:rPr lang="en-US" sz="1800" dirty="0">
                <a:solidFill>
                  <a:srgbClr val="000000"/>
                </a:solidFill>
                <a:effectLst/>
                <a:latin typeface="Times New Roman" panose="02020603050405020304" pitchFamily="18" charset="0"/>
                <a:ea typeface="Times New Roman" panose="02020603050405020304" pitchFamily="18" charset="0"/>
              </a:rPr>
              <a:t>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b="1" dirty="0">
                <a:solidFill>
                  <a:srgbClr val="000000"/>
                </a:solidFill>
                <a:effectLst/>
                <a:latin typeface="Times New Roman" panose="02020603050405020304" pitchFamily="18" charset="0"/>
                <a:ea typeface="Times New Roman" panose="02020603050405020304" pitchFamily="18" charset="0"/>
              </a:rPr>
              <a:t>LITERATURE REVIEW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875F544-F3DF-4C4E-92E2-4D6782147FB8}"/>
              </a:ext>
            </a:extLst>
          </p:cNvPr>
          <p:cNvSpPr>
            <a:spLocks noGrp="1"/>
          </p:cNvSpPr>
          <p:nvPr>
            <p:ph idx="1"/>
          </p:nvPr>
        </p:nvSpPr>
        <p:spPr>
          <a:xfrm>
            <a:off x="838200" y="457200"/>
            <a:ext cx="10515600" cy="6508376"/>
          </a:xfrm>
        </p:spPr>
        <p:txBody>
          <a:bodyPr>
            <a:noAutofit/>
          </a:bodyPr>
          <a:lstStyle/>
          <a:p>
            <a:pPr marL="6350" indent="-6350">
              <a:lnSpc>
                <a:spcPct val="104000"/>
              </a:lnSpc>
              <a:spcAft>
                <a:spcPts val="1335"/>
              </a:spcAft>
            </a:pPr>
            <a:r>
              <a:rPr lang="en-US" sz="2400" dirty="0">
                <a:solidFill>
                  <a:srgbClr val="000000"/>
                </a:solidFill>
                <a:effectLst/>
                <a:latin typeface="Times New Roman" panose="02020603050405020304" pitchFamily="18" charset="0"/>
                <a:ea typeface="Times New Roman" panose="02020603050405020304" pitchFamily="18" charset="0"/>
              </a:rPr>
              <a:t>Several studies have explored customer churn prediction in the telecommunications sector using statistical and machine learning techniques. Traditional methods such as logistic regression have been widely used due to their simplicity and interpretability. These models help identify key factors influencing churn, such as customer tenure, monthly charges, and service usage. </a:t>
            </a:r>
          </a:p>
          <a:p>
            <a:pPr marL="6350" indent="-6350">
              <a:lnSpc>
                <a:spcPct val="104000"/>
              </a:lnSpc>
              <a:spcAft>
                <a:spcPts val="1335"/>
              </a:spcAft>
            </a:pPr>
            <a:r>
              <a:rPr lang="en-US" sz="2400" dirty="0">
                <a:solidFill>
                  <a:srgbClr val="000000"/>
                </a:solidFill>
                <a:effectLst/>
                <a:latin typeface="Times New Roman" panose="02020603050405020304" pitchFamily="18" charset="0"/>
                <a:ea typeface="Times New Roman" panose="02020603050405020304" pitchFamily="18" charset="0"/>
              </a:rPr>
              <a:t>More recent research has applied advanced machine learning algorithms including decision trees, random forests, support vector machines, and gradient boosting techniques. These approaches often achieve higher predictive accuracy by capturing complex patterns in customer behavior. Studies show that ensemble models generally perform better than single classifiers in churn prediction tasks. </a:t>
            </a:r>
          </a:p>
          <a:p>
            <a:r>
              <a:rPr lang="en-US" sz="2400" dirty="0">
                <a:solidFill>
                  <a:srgbClr val="000000"/>
                </a:solidFill>
                <a:effectLst/>
                <a:latin typeface="Times New Roman" panose="02020603050405020304" pitchFamily="18" charset="0"/>
                <a:ea typeface="Times New Roman" panose="02020603050405020304" pitchFamily="18" charset="0"/>
              </a:rPr>
              <a:t>In addition, researchers have emphasized the importance of data preprocessing, feature selection, and class imbalance handling in churn analysis. Techniques such as normalization, encoding categorical variables, and using evaluation metrics like precision, recall, and F1-score have been recommended to ensure reliable and robust churn prediction models </a:t>
            </a:r>
            <a:endParaRPr lang="en-US" sz="2400" dirty="0"/>
          </a:p>
        </p:txBody>
      </p:sp>
    </p:spTree>
    <p:extLst>
      <p:ext uri="{BB962C8B-B14F-4D97-AF65-F5344CB8AC3E}">
        <p14:creationId xmlns:p14="http://schemas.microsoft.com/office/powerpoint/2010/main" val="3869060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C76C-E63A-45B1-8D19-EE9B7B0E41C0}"/>
              </a:ext>
            </a:extLst>
          </p:cNvPr>
          <p:cNvSpPr>
            <a:spLocks noGrp="1"/>
          </p:cNvSpPr>
          <p:nvPr>
            <p:ph type="title"/>
          </p:nvPr>
        </p:nvSpPr>
        <p:spPr/>
        <p:txBody>
          <a:bodyPr/>
          <a:lstStyle/>
          <a:p>
            <a:r>
              <a:rPr lang="en-US" sz="1800" b="1" kern="0" dirty="0">
                <a:solidFill>
                  <a:srgbClr val="000000"/>
                </a:solidFill>
                <a:effectLst/>
                <a:latin typeface="Times New Roman" panose="02020603050405020304" pitchFamily="18" charset="0"/>
                <a:ea typeface="Times New Roman" panose="02020603050405020304" pitchFamily="18" charset="0"/>
              </a:rPr>
              <a:t>PROBLEM JUSTIFICATION </a:t>
            </a:r>
            <a:br>
              <a:rPr lang="en-US" sz="1800" b="1" kern="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1D084F-9F2F-41C3-B716-B2CC98405830}"/>
              </a:ext>
            </a:extLst>
          </p:cNvPr>
          <p:cNvSpPr>
            <a:spLocks noGrp="1"/>
          </p:cNvSpPr>
          <p:nvPr>
            <p:ph idx="1"/>
          </p:nvPr>
        </p:nvSpPr>
        <p:spPr/>
        <p:txBody>
          <a:bodyPr>
            <a:normAutofit/>
          </a:bodyPr>
          <a:lstStyle/>
          <a:p>
            <a:r>
              <a:rPr lang="en-US" sz="2400" dirty="0">
                <a:solidFill>
                  <a:srgbClr val="000000"/>
                </a:solidFill>
                <a:effectLst/>
                <a:latin typeface="Times New Roman" panose="02020603050405020304" pitchFamily="18" charset="0"/>
                <a:ea typeface="Times New Roman" panose="02020603050405020304" pitchFamily="18" charset="0"/>
              </a:rPr>
              <a:t>This project is important because customer churn directly affects the profitability and growth of telecom companies. By predicting churn in advance, Telcom company can implement targeted retention strategies, reduce revenue loss, and improve customer satisfaction. The study also provides practical experience in applying data science techniques to real-world business problems, making it valuable both academically and professionally</a:t>
            </a:r>
            <a:endParaRPr lang="en-US" sz="2400" dirty="0"/>
          </a:p>
        </p:txBody>
      </p:sp>
    </p:spTree>
    <p:extLst>
      <p:ext uri="{BB962C8B-B14F-4D97-AF65-F5344CB8AC3E}">
        <p14:creationId xmlns:p14="http://schemas.microsoft.com/office/powerpoint/2010/main" val="2159205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B18B-D901-462B-A21A-F6E90D3A4E5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REFERENCES </a:t>
            </a:r>
            <a:br>
              <a:rPr lang="en-US" sz="180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399FFA6-B23A-4767-9845-19BF45CBAE36}"/>
              </a:ext>
            </a:extLst>
          </p:cNvPr>
          <p:cNvSpPr>
            <a:spLocks noGrp="1"/>
          </p:cNvSpPr>
          <p:nvPr>
            <p:ph idx="1"/>
          </p:nvPr>
        </p:nvSpPr>
        <p:spPr>
          <a:xfrm>
            <a:off x="838200" y="995081"/>
            <a:ext cx="10515600" cy="5181881"/>
          </a:xfrm>
        </p:spPr>
        <p:txBody>
          <a:bodyPr>
            <a:normAutofit fontScale="25000" lnSpcReduction="20000"/>
          </a:bodyPr>
          <a:lstStyle/>
          <a:p>
            <a:pPr marL="6350" indent="-6350">
              <a:lnSpc>
                <a:spcPct val="107000"/>
              </a:lnSpc>
              <a:spcAft>
                <a:spcPts val="655"/>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280"/>
              </a:spcAft>
            </a:pPr>
            <a:r>
              <a:rPr lang="en-US" sz="5000" b="1" dirty="0">
                <a:solidFill>
                  <a:srgbClr val="000000"/>
                </a:solidFill>
                <a:effectLst/>
                <a:latin typeface="Times New Roman" panose="02020603050405020304" pitchFamily="18" charset="0"/>
                <a:ea typeface="Times New Roman" panose="02020603050405020304" pitchFamily="18" charset="0"/>
              </a:rPr>
              <a:t>1</a:t>
            </a:r>
            <a:r>
              <a:rPr lang="en-US" sz="8000" b="1" dirty="0">
                <a:solidFill>
                  <a:srgbClr val="000000"/>
                </a:solidFill>
                <a:effectLst/>
                <a:latin typeface="Times New Roman" panose="02020603050405020304" pitchFamily="18" charset="0"/>
                <a:ea typeface="Times New Roman" panose="02020603050405020304" pitchFamily="18" charset="0"/>
              </a:rPr>
              <a:t>. Kaggle Dataset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4000"/>
              </a:lnSpc>
              <a:spcAft>
                <a:spcPts val="1335"/>
              </a:spcAft>
            </a:pPr>
            <a:r>
              <a:rPr lang="en-US" sz="8000" dirty="0">
                <a:solidFill>
                  <a:srgbClr val="000000"/>
                </a:solidFill>
                <a:effectLst/>
                <a:latin typeface="Times New Roman" panose="02020603050405020304" pitchFamily="18" charset="0"/>
                <a:ea typeface="Times New Roman" panose="02020603050405020304" pitchFamily="18" charset="0"/>
              </a:rPr>
              <a:t>Kaggle (n. d) telecom customer churn. Kaggle </a:t>
            </a:r>
          </a:p>
          <a:p>
            <a:pPr marL="6350" indent="-6350">
              <a:lnSpc>
                <a:spcPct val="104000"/>
              </a:lnSpc>
              <a:spcAft>
                <a:spcPts val="1335"/>
              </a:spcAft>
            </a:pPr>
            <a:r>
              <a:rPr lang="en-US" sz="8000" dirty="0">
                <a:solidFill>
                  <a:srgbClr val="000000"/>
                </a:solidFill>
                <a:effectLst/>
                <a:latin typeface="Times New Roman" panose="02020603050405020304" pitchFamily="18" charset="0"/>
                <a:ea typeface="Times New Roman" panose="02020603050405020304" pitchFamily="18" charset="0"/>
              </a:rPr>
              <a:t>McKinney, W. (2017). Python for Data Analysis: data wrangling with pandas and NumPy </a:t>
            </a:r>
          </a:p>
          <a:p>
            <a:pPr marL="6350" indent="-6350">
              <a:lnSpc>
                <a:spcPct val="107000"/>
              </a:lnSpc>
              <a:spcAft>
                <a:spcPts val="655"/>
              </a:spcAft>
            </a:pPr>
            <a:r>
              <a:rPr lang="en-US" sz="8000" dirty="0">
                <a:solidFill>
                  <a:srgbClr val="000000"/>
                </a:solidFill>
                <a:effectLst/>
                <a:latin typeface="Times New Roman" panose="02020603050405020304" pitchFamily="18" charset="0"/>
                <a:ea typeface="Times New Roman" panose="02020603050405020304" pitchFamily="18" charset="0"/>
              </a:rPr>
              <a:t>Kariuki, P., et al. (2022). </a:t>
            </a:r>
            <a:r>
              <a:rPr lang="en-US" sz="8000" i="1" dirty="0">
                <a:solidFill>
                  <a:srgbClr val="000000"/>
                </a:solidFill>
                <a:effectLst/>
                <a:latin typeface="Times New Roman" panose="02020603050405020304" pitchFamily="18" charset="0"/>
                <a:ea typeface="Times New Roman" panose="02020603050405020304" pitchFamily="18" charset="0"/>
              </a:rPr>
              <a:t>Customer Retention Challenges in Kenya’s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465"/>
              </a:spcAft>
            </a:pPr>
            <a:r>
              <a:rPr lang="en-US" sz="8000" i="1" dirty="0">
                <a:solidFill>
                  <a:srgbClr val="000000"/>
                </a:solidFill>
                <a:effectLst/>
                <a:latin typeface="Times New Roman" panose="02020603050405020304" pitchFamily="18" charset="0"/>
                <a:ea typeface="Times New Roman" panose="02020603050405020304" pitchFamily="18" charset="0"/>
              </a:rPr>
              <a:t>Telecommunications Sector.</a:t>
            </a:r>
            <a:r>
              <a:rPr lang="en-US" sz="8000" dirty="0">
                <a:solidFill>
                  <a:srgbClr val="000000"/>
                </a:solidFill>
                <a:effectLst/>
                <a:latin typeface="Times New Roman" panose="02020603050405020304" pitchFamily="18" charset="0"/>
                <a:ea typeface="Times New Roman" panose="02020603050405020304" pitchFamily="18" charset="0"/>
              </a:rPr>
              <a:t> Journal of Business &amp; Management, 14(2), 45–60. </a:t>
            </a:r>
          </a:p>
          <a:p>
            <a:pPr marL="6350" indent="-6350">
              <a:lnSpc>
                <a:spcPct val="107000"/>
              </a:lnSpc>
              <a:spcAft>
                <a:spcPts val="655"/>
              </a:spcAft>
            </a:pPr>
            <a:r>
              <a:rPr lang="en-US" sz="8000" dirty="0">
                <a:solidFill>
                  <a:srgbClr val="000000"/>
                </a:solidFill>
                <a:effectLst/>
                <a:latin typeface="Times New Roman" panose="02020603050405020304" pitchFamily="18" charset="0"/>
                <a:ea typeface="Times New Roman" panose="02020603050405020304" pitchFamily="18" charset="0"/>
              </a:rPr>
              <a:t>Mwangi, D., &amp; Ochieng, J. (2021). </a:t>
            </a:r>
            <a:r>
              <a:rPr lang="en-US" sz="8000" i="1" dirty="0">
                <a:solidFill>
                  <a:srgbClr val="000000"/>
                </a:solidFill>
                <a:effectLst/>
                <a:latin typeface="Times New Roman" panose="02020603050405020304" pitchFamily="18" charset="0"/>
                <a:ea typeface="Times New Roman" panose="02020603050405020304" pitchFamily="18" charset="0"/>
              </a:rPr>
              <a:t>Data-Driven Customer Churn Analysis in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460"/>
              </a:spcAft>
            </a:pPr>
            <a:r>
              <a:rPr lang="en-US" sz="8000" i="1" dirty="0">
                <a:solidFill>
                  <a:srgbClr val="000000"/>
                </a:solidFill>
                <a:effectLst/>
                <a:latin typeface="Times New Roman" panose="02020603050405020304" pitchFamily="18" charset="0"/>
                <a:ea typeface="Times New Roman" panose="02020603050405020304" pitchFamily="18" charset="0"/>
              </a:rPr>
              <a:t>Kenyan Telecom Companies.</a:t>
            </a:r>
            <a:r>
              <a:rPr lang="en-US" sz="8000" dirty="0">
                <a:solidFill>
                  <a:srgbClr val="000000"/>
                </a:solidFill>
                <a:effectLst/>
                <a:latin typeface="Times New Roman" panose="02020603050405020304" pitchFamily="18" charset="0"/>
                <a:ea typeface="Times New Roman" panose="02020603050405020304" pitchFamily="18" charset="0"/>
              </a:rPr>
              <a:t> International Journal of Data Analytics, 5(1), 12–25. </a:t>
            </a:r>
          </a:p>
          <a:p>
            <a:pPr marL="6350" indent="-6350">
              <a:lnSpc>
                <a:spcPct val="148000"/>
              </a:lnSpc>
              <a:spcAft>
                <a:spcPts val="795"/>
              </a:spcAft>
            </a:pPr>
            <a:r>
              <a:rPr lang="en-US" sz="8000" dirty="0">
                <a:solidFill>
                  <a:srgbClr val="000000"/>
                </a:solidFill>
                <a:effectLst/>
                <a:latin typeface="Times New Roman" panose="02020603050405020304" pitchFamily="18" charset="0"/>
                <a:ea typeface="Times New Roman" panose="02020603050405020304" pitchFamily="18" charset="0"/>
              </a:rPr>
              <a:t>National Communications Authority (NCA). (2023). </a:t>
            </a:r>
            <a:r>
              <a:rPr lang="en-US" sz="8000" i="1" dirty="0">
                <a:solidFill>
                  <a:srgbClr val="000000"/>
                </a:solidFill>
                <a:effectLst/>
                <a:latin typeface="Times New Roman" panose="02020603050405020304" pitchFamily="18" charset="0"/>
                <a:ea typeface="Times New Roman" panose="02020603050405020304" pitchFamily="18" charset="0"/>
              </a:rPr>
              <a:t>Kenya Telecom Market Report.</a:t>
            </a:r>
            <a:r>
              <a:rPr lang="en-US" sz="8000" dirty="0">
                <a:solidFill>
                  <a:srgbClr val="000000"/>
                </a:solidFill>
                <a:effectLst/>
                <a:latin typeface="Times New Roman" panose="02020603050405020304" pitchFamily="18" charset="0"/>
                <a:ea typeface="Times New Roman" panose="02020603050405020304" pitchFamily="18" charset="0"/>
              </a:rPr>
              <a:t> Government of Kenya. </a:t>
            </a:r>
          </a:p>
          <a:p>
            <a:pPr marL="6350" indent="-6350">
              <a:lnSpc>
                <a:spcPct val="107000"/>
              </a:lnSpc>
              <a:spcAft>
                <a:spcPts val="1460"/>
              </a:spcAft>
            </a:pPr>
            <a:r>
              <a:rPr lang="en-US" sz="8000" dirty="0">
                <a:solidFill>
                  <a:srgbClr val="000000"/>
                </a:solidFill>
                <a:effectLst/>
                <a:latin typeface="Times New Roman" panose="02020603050405020304" pitchFamily="18" charset="0"/>
                <a:ea typeface="Times New Roman" panose="02020603050405020304" pitchFamily="18" charset="0"/>
              </a:rPr>
              <a:t>World Bank. (2021). </a:t>
            </a:r>
            <a:r>
              <a:rPr lang="en-US" sz="8000" i="1" dirty="0">
                <a:solidFill>
                  <a:srgbClr val="000000"/>
                </a:solidFill>
                <a:effectLst/>
                <a:latin typeface="Times New Roman" panose="02020603050405020304" pitchFamily="18" charset="0"/>
                <a:ea typeface="Times New Roman" panose="02020603050405020304" pitchFamily="18" charset="0"/>
              </a:rPr>
              <a:t>Digital Economy and Telecommunications in Kenya.</a:t>
            </a:r>
            <a:r>
              <a:rPr lang="en-US" sz="8000" dirty="0">
                <a:solidFill>
                  <a:srgbClr val="000000"/>
                </a:solidFill>
                <a:effectLst/>
                <a:latin typeface="Times New Roman" panose="02020603050405020304" pitchFamily="18" charset="0"/>
                <a:ea typeface="Times New Roman" panose="02020603050405020304" pitchFamily="18" charset="0"/>
              </a:rPr>
              <a:t> </a:t>
            </a:r>
          </a:p>
          <a:p>
            <a:endParaRPr lang="en-US" dirty="0"/>
          </a:p>
        </p:txBody>
      </p:sp>
    </p:spTree>
    <p:extLst>
      <p:ext uri="{BB962C8B-B14F-4D97-AF65-F5344CB8AC3E}">
        <p14:creationId xmlns:p14="http://schemas.microsoft.com/office/powerpoint/2010/main" val="2496910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3575</TotalTime>
  <Words>1022</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PowerPoint Presentation</vt:lpstr>
      <vt:lpstr>INTROCUTION  </vt:lpstr>
      <vt:lpstr>BACKGROUND STUDY  </vt:lpstr>
      <vt:lpstr>  PROBLEM STATEMENT  </vt:lpstr>
      <vt:lpstr>OBJECTIVES OF THE STUDY  </vt:lpstr>
      <vt:lpstr>METHODOLOGY</vt:lpstr>
      <vt:lpstr>Expected result </vt:lpstr>
      <vt:lpstr>  LITERATURE REVIEW  </vt:lpstr>
      <vt:lpstr>PROBLEM JUSTIFICATION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Neicy Neema</cp:lastModifiedBy>
  <cp:revision>15</cp:revision>
  <dcterms:created xsi:type="dcterms:W3CDTF">2026-02-11T14:03:19Z</dcterms:created>
  <dcterms:modified xsi:type="dcterms:W3CDTF">2026-03-29T20:49:12Z</dcterms:modified>
</cp:coreProperties>
</file>