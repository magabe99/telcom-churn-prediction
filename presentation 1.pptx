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3" r:id="rId5"/>
    <p:sldId id="261" r:id="rId6"/>
    <p:sldId id="262" r:id="rId7"/>
    <p:sldId id="260" r:id="rId8"/>
    <p:sldId id="264"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176" autoAdjust="0"/>
    <p:restoredTop sz="94660"/>
  </p:normalViewPr>
  <p:slideViewPr>
    <p:cSldViewPr snapToGrid="0">
      <p:cViewPr varScale="1">
        <p:scale>
          <a:sx n="71" d="100"/>
          <a:sy n="71" d="100"/>
        </p:scale>
        <p:origin x="648"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E2A08-FE56-4F76-86E7-2C9D8709003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2305501-0DF8-4B39-85A8-9D1DC91FF4D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3006BD6-EC77-4D63-A6E1-646A3F11E278}"/>
              </a:ext>
            </a:extLst>
          </p:cNvPr>
          <p:cNvSpPr>
            <a:spLocks noGrp="1"/>
          </p:cNvSpPr>
          <p:nvPr>
            <p:ph type="dt" sz="half" idx="10"/>
          </p:nvPr>
        </p:nvSpPr>
        <p:spPr/>
        <p:txBody>
          <a:bodyPr/>
          <a:lstStyle/>
          <a:p>
            <a:fld id="{4F6A6B05-477C-4018-831A-99A433A479E5}" type="datetimeFigureOut">
              <a:rPr lang="en-US" smtClean="0"/>
              <a:t>3/7/2026</a:t>
            </a:fld>
            <a:endParaRPr lang="en-US"/>
          </a:p>
        </p:txBody>
      </p:sp>
      <p:sp>
        <p:nvSpPr>
          <p:cNvPr id="5" name="Footer Placeholder 4">
            <a:extLst>
              <a:ext uri="{FF2B5EF4-FFF2-40B4-BE49-F238E27FC236}">
                <a16:creationId xmlns:a16="http://schemas.microsoft.com/office/drawing/2014/main" id="{3E5EC089-DFB8-45D4-86F1-E677CA3DD0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DCBA35-8F02-44AF-BC19-BFEB4956E182}"/>
              </a:ext>
            </a:extLst>
          </p:cNvPr>
          <p:cNvSpPr>
            <a:spLocks noGrp="1"/>
          </p:cNvSpPr>
          <p:nvPr>
            <p:ph type="sldNum" sz="quarter" idx="12"/>
          </p:nvPr>
        </p:nvSpPr>
        <p:spPr/>
        <p:txBody>
          <a:bodyPr/>
          <a:lstStyle/>
          <a:p>
            <a:fld id="{3EA28BDB-18F4-47D8-AFA0-213D348E2BDB}" type="slidenum">
              <a:rPr lang="en-US" smtClean="0"/>
              <a:t>‹#›</a:t>
            </a:fld>
            <a:endParaRPr lang="en-US"/>
          </a:p>
        </p:txBody>
      </p:sp>
    </p:spTree>
    <p:extLst>
      <p:ext uri="{BB962C8B-B14F-4D97-AF65-F5344CB8AC3E}">
        <p14:creationId xmlns:p14="http://schemas.microsoft.com/office/powerpoint/2010/main" val="41001338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A667B-161B-477B-871B-C40C5316202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CA5F30A-D6F1-4723-8B64-25F6EF7B997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F8B4C1-F8C4-46F5-B007-78DAD3E432EC}"/>
              </a:ext>
            </a:extLst>
          </p:cNvPr>
          <p:cNvSpPr>
            <a:spLocks noGrp="1"/>
          </p:cNvSpPr>
          <p:nvPr>
            <p:ph type="dt" sz="half" idx="10"/>
          </p:nvPr>
        </p:nvSpPr>
        <p:spPr/>
        <p:txBody>
          <a:bodyPr/>
          <a:lstStyle/>
          <a:p>
            <a:fld id="{4F6A6B05-477C-4018-831A-99A433A479E5}" type="datetimeFigureOut">
              <a:rPr lang="en-US" smtClean="0"/>
              <a:t>3/7/2026</a:t>
            </a:fld>
            <a:endParaRPr lang="en-US"/>
          </a:p>
        </p:txBody>
      </p:sp>
      <p:sp>
        <p:nvSpPr>
          <p:cNvPr id="5" name="Footer Placeholder 4">
            <a:extLst>
              <a:ext uri="{FF2B5EF4-FFF2-40B4-BE49-F238E27FC236}">
                <a16:creationId xmlns:a16="http://schemas.microsoft.com/office/drawing/2014/main" id="{77CC3586-E8D1-4E6F-BAF3-4277AEF37C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61AC63-87E2-4005-9040-1E93EB50C057}"/>
              </a:ext>
            </a:extLst>
          </p:cNvPr>
          <p:cNvSpPr>
            <a:spLocks noGrp="1"/>
          </p:cNvSpPr>
          <p:nvPr>
            <p:ph type="sldNum" sz="quarter" idx="12"/>
          </p:nvPr>
        </p:nvSpPr>
        <p:spPr/>
        <p:txBody>
          <a:bodyPr/>
          <a:lstStyle/>
          <a:p>
            <a:fld id="{3EA28BDB-18F4-47D8-AFA0-213D348E2BDB}" type="slidenum">
              <a:rPr lang="en-US" smtClean="0"/>
              <a:t>‹#›</a:t>
            </a:fld>
            <a:endParaRPr lang="en-US"/>
          </a:p>
        </p:txBody>
      </p:sp>
    </p:spTree>
    <p:extLst>
      <p:ext uri="{BB962C8B-B14F-4D97-AF65-F5344CB8AC3E}">
        <p14:creationId xmlns:p14="http://schemas.microsoft.com/office/powerpoint/2010/main" val="24508837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32B76-FDE7-4E48-A36C-979F463CFDF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2CEEA98-7E51-450F-863A-C640041FD89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CFA90FC-7038-4F64-AD0A-0B082E58A862}"/>
              </a:ext>
            </a:extLst>
          </p:cNvPr>
          <p:cNvSpPr>
            <a:spLocks noGrp="1"/>
          </p:cNvSpPr>
          <p:nvPr>
            <p:ph type="dt" sz="half" idx="10"/>
          </p:nvPr>
        </p:nvSpPr>
        <p:spPr/>
        <p:txBody>
          <a:bodyPr/>
          <a:lstStyle/>
          <a:p>
            <a:fld id="{4F6A6B05-477C-4018-831A-99A433A479E5}" type="datetimeFigureOut">
              <a:rPr lang="en-US" smtClean="0"/>
              <a:t>3/7/2026</a:t>
            </a:fld>
            <a:endParaRPr lang="en-US"/>
          </a:p>
        </p:txBody>
      </p:sp>
      <p:sp>
        <p:nvSpPr>
          <p:cNvPr id="5" name="Footer Placeholder 4">
            <a:extLst>
              <a:ext uri="{FF2B5EF4-FFF2-40B4-BE49-F238E27FC236}">
                <a16:creationId xmlns:a16="http://schemas.microsoft.com/office/drawing/2014/main" id="{FF9CBC30-AC8E-4396-9D83-4F3ADC78B7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DBFB94-4D89-49BF-97AD-54C73C7DE7F6}"/>
              </a:ext>
            </a:extLst>
          </p:cNvPr>
          <p:cNvSpPr>
            <a:spLocks noGrp="1"/>
          </p:cNvSpPr>
          <p:nvPr>
            <p:ph type="sldNum" sz="quarter" idx="12"/>
          </p:nvPr>
        </p:nvSpPr>
        <p:spPr/>
        <p:txBody>
          <a:bodyPr/>
          <a:lstStyle/>
          <a:p>
            <a:fld id="{3EA28BDB-18F4-47D8-AFA0-213D348E2BDB}" type="slidenum">
              <a:rPr lang="en-US" smtClean="0"/>
              <a:t>‹#›</a:t>
            </a:fld>
            <a:endParaRPr lang="en-US"/>
          </a:p>
        </p:txBody>
      </p:sp>
    </p:spTree>
    <p:extLst>
      <p:ext uri="{BB962C8B-B14F-4D97-AF65-F5344CB8AC3E}">
        <p14:creationId xmlns:p14="http://schemas.microsoft.com/office/powerpoint/2010/main" val="2443176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86CBA-BE45-4C6A-8025-40DD31878C6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BDCA8F-7E16-462E-B176-D8DC8006CD3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1734617-1FCC-4FF8-BF83-A7869CA3E73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81B4031-530F-458D-BE42-D87A9631D14C}"/>
              </a:ext>
            </a:extLst>
          </p:cNvPr>
          <p:cNvSpPr>
            <a:spLocks noGrp="1"/>
          </p:cNvSpPr>
          <p:nvPr>
            <p:ph type="dt" sz="half" idx="10"/>
          </p:nvPr>
        </p:nvSpPr>
        <p:spPr/>
        <p:txBody>
          <a:bodyPr/>
          <a:lstStyle/>
          <a:p>
            <a:fld id="{4F6A6B05-477C-4018-831A-99A433A479E5}" type="datetimeFigureOut">
              <a:rPr lang="en-US" smtClean="0"/>
              <a:t>3/7/2026</a:t>
            </a:fld>
            <a:endParaRPr lang="en-US"/>
          </a:p>
        </p:txBody>
      </p:sp>
      <p:sp>
        <p:nvSpPr>
          <p:cNvPr id="6" name="Footer Placeholder 5">
            <a:extLst>
              <a:ext uri="{FF2B5EF4-FFF2-40B4-BE49-F238E27FC236}">
                <a16:creationId xmlns:a16="http://schemas.microsoft.com/office/drawing/2014/main" id="{4982D139-2219-4C59-9DE0-314C2985649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44F344-20E9-4F8B-BDD0-CD2D6A7460D8}"/>
              </a:ext>
            </a:extLst>
          </p:cNvPr>
          <p:cNvSpPr>
            <a:spLocks noGrp="1"/>
          </p:cNvSpPr>
          <p:nvPr>
            <p:ph type="sldNum" sz="quarter" idx="12"/>
          </p:nvPr>
        </p:nvSpPr>
        <p:spPr/>
        <p:txBody>
          <a:bodyPr/>
          <a:lstStyle/>
          <a:p>
            <a:fld id="{3EA28BDB-18F4-47D8-AFA0-213D348E2BDB}" type="slidenum">
              <a:rPr lang="en-US" smtClean="0"/>
              <a:t>‹#›</a:t>
            </a:fld>
            <a:endParaRPr lang="en-US"/>
          </a:p>
        </p:txBody>
      </p:sp>
    </p:spTree>
    <p:extLst>
      <p:ext uri="{BB962C8B-B14F-4D97-AF65-F5344CB8AC3E}">
        <p14:creationId xmlns:p14="http://schemas.microsoft.com/office/powerpoint/2010/main" val="11553332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264AB-C4FF-4A65-AE0E-8BB09487D65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2DE9A00-001C-4940-9E73-CCD06A38AA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877D4EB-1DCA-43D8-8EA8-D94347D72EA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BD914EC-4885-4CEC-AACC-C25A39C6DB9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0DF8932-068D-4FB9-B9D3-11BCE7DC346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3199A30-3341-4E55-949F-64883E4E6181}"/>
              </a:ext>
            </a:extLst>
          </p:cNvPr>
          <p:cNvSpPr>
            <a:spLocks noGrp="1"/>
          </p:cNvSpPr>
          <p:nvPr>
            <p:ph type="dt" sz="half" idx="10"/>
          </p:nvPr>
        </p:nvSpPr>
        <p:spPr/>
        <p:txBody>
          <a:bodyPr/>
          <a:lstStyle/>
          <a:p>
            <a:fld id="{4F6A6B05-477C-4018-831A-99A433A479E5}" type="datetimeFigureOut">
              <a:rPr lang="en-US" smtClean="0"/>
              <a:t>3/7/2026</a:t>
            </a:fld>
            <a:endParaRPr lang="en-US"/>
          </a:p>
        </p:txBody>
      </p:sp>
      <p:sp>
        <p:nvSpPr>
          <p:cNvPr id="8" name="Footer Placeholder 7">
            <a:extLst>
              <a:ext uri="{FF2B5EF4-FFF2-40B4-BE49-F238E27FC236}">
                <a16:creationId xmlns:a16="http://schemas.microsoft.com/office/drawing/2014/main" id="{D55BB43A-D70C-45D9-8B10-58A5D393C69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BF798FF-6DF1-43DC-9BD1-005EC081A48C}"/>
              </a:ext>
            </a:extLst>
          </p:cNvPr>
          <p:cNvSpPr>
            <a:spLocks noGrp="1"/>
          </p:cNvSpPr>
          <p:nvPr>
            <p:ph type="sldNum" sz="quarter" idx="12"/>
          </p:nvPr>
        </p:nvSpPr>
        <p:spPr/>
        <p:txBody>
          <a:bodyPr/>
          <a:lstStyle/>
          <a:p>
            <a:fld id="{3EA28BDB-18F4-47D8-AFA0-213D348E2BDB}" type="slidenum">
              <a:rPr lang="en-US" smtClean="0"/>
              <a:t>‹#›</a:t>
            </a:fld>
            <a:endParaRPr lang="en-US"/>
          </a:p>
        </p:txBody>
      </p:sp>
    </p:spTree>
    <p:extLst>
      <p:ext uri="{BB962C8B-B14F-4D97-AF65-F5344CB8AC3E}">
        <p14:creationId xmlns:p14="http://schemas.microsoft.com/office/powerpoint/2010/main" val="534288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150BF-6628-4431-BD30-56F8519B357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E9EDC8C-7327-4A74-881D-657F1681CFD5}"/>
              </a:ext>
            </a:extLst>
          </p:cNvPr>
          <p:cNvSpPr>
            <a:spLocks noGrp="1"/>
          </p:cNvSpPr>
          <p:nvPr>
            <p:ph type="dt" sz="half" idx="10"/>
          </p:nvPr>
        </p:nvSpPr>
        <p:spPr/>
        <p:txBody>
          <a:bodyPr/>
          <a:lstStyle/>
          <a:p>
            <a:fld id="{4F6A6B05-477C-4018-831A-99A433A479E5}" type="datetimeFigureOut">
              <a:rPr lang="en-US" smtClean="0"/>
              <a:t>3/7/2026</a:t>
            </a:fld>
            <a:endParaRPr lang="en-US"/>
          </a:p>
        </p:txBody>
      </p:sp>
      <p:sp>
        <p:nvSpPr>
          <p:cNvPr id="4" name="Footer Placeholder 3">
            <a:extLst>
              <a:ext uri="{FF2B5EF4-FFF2-40B4-BE49-F238E27FC236}">
                <a16:creationId xmlns:a16="http://schemas.microsoft.com/office/drawing/2014/main" id="{30DF193C-1B63-4381-AF35-83817FD7CC8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7B735B5-916C-4ED4-9B4D-EF9A05B5FBFB}"/>
              </a:ext>
            </a:extLst>
          </p:cNvPr>
          <p:cNvSpPr>
            <a:spLocks noGrp="1"/>
          </p:cNvSpPr>
          <p:nvPr>
            <p:ph type="sldNum" sz="quarter" idx="12"/>
          </p:nvPr>
        </p:nvSpPr>
        <p:spPr/>
        <p:txBody>
          <a:bodyPr/>
          <a:lstStyle/>
          <a:p>
            <a:fld id="{3EA28BDB-18F4-47D8-AFA0-213D348E2BDB}" type="slidenum">
              <a:rPr lang="en-US" smtClean="0"/>
              <a:t>‹#›</a:t>
            </a:fld>
            <a:endParaRPr lang="en-US"/>
          </a:p>
        </p:txBody>
      </p:sp>
    </p:spTree>
    <p:extLst>
      <p:ext uri="{BB962C8B-B14F-4D97-AF65-F5344CB8AC3E}">
        <p14:creationId xmlns:p14="http://schemas.microsoft.com/office/powerpoint/2010/main" val="39654964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6F91C96-E0D9-4751-BF6C-66001D72F10C}"/>
              </a:ext>
            </a:extLst>
          </p:cNvPr>
          <p:cNvSpPr>
            <a:spLocks noGrp="1"/>
          </p:cNvSpPr>
          <p:nvPr>
            <p:ph type="dt" sz="half" idx="10"/>
          </p:nvPr>
        </p:nvSpPr>
        <p:spPr/>
        <p:txBody>
          <a:bodyPr/>
          <a:lstStyle/>
          <a:p>
            <a:fld id="{4F6A6B05-477C-4018-831A-99A433A479E5}" type="datetimeFigureOut">
              <a:rPr lang="en-US" smtClean="0"/>
              <a:t>3/7/2026</a:t>
            </a:fld>
            <a:endParaRPr lang="en-US"/>
          </a:p>
        </p:txBody>
      </p:sp>
      <p:sp>
        <p:nvSpPr>
          <p:cNvPr id="3" name="Footer Placeholder 2">
            <a:extLst>
              <a:ext uri="{FF2B5EF4-FFF2-40B4-BE49-F238E27FC236}">
                <a16:creationId xmlns:a16="http://schemas.microsoft.com/office/drawing/2014/main" id="{91540384-713E-4F46-8F1A-3A47E9CC7BC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2B3BA54-14A7-4F8E-B692-CE59DB9DA46E}"/>
              </a:ext>
            </a:extLst>
          </p:cNvPr>
          <p:cNvSpPr>
            <a:spLocks noGrp="1"/>
          </p:cNvSpPr>
          <p:nvPr>
            <p:ph type="sldNum" sz="quarter" idx="12"/>
          </p:nvPr>
        </p:nvSpPr>
        <p:spPr/>
        <p:txBody>
          <a:bodyPr/>
          <a:lstStyle/>
          <a:p>
            <a:fld id="{3EA28BDB-18F4-47D8-AFA0-213D348E2BDB}" type="slidenum">
              <a:rPr lang="en-US" smtClean="0"/>
              <a:t>‹#›</a:t>
            </a:fld>
            <a:endParaRPr lang="en-US"/>
          </a:p>
        </p:txBody>
      </p:sp>
    </p:spTree>
    <p:extLst>
      <p:ext uri="{BB962C8B-B14F-4D97-AF65-F5344CB8AC3E}">
        <p14:creationId xmlns:p14="http://schemas.microsoft.com/office/powerpoint/2010/main" val="27286721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14D10-508C-4342-B379-C688779338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EF497A-291D-4A1E-A438-B133CF8B8E1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CD081CE-5E6A-4DDF-AA87-B7F58D3635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478E04-3BF3-4BF8-8AE7-EC4294702773}"/>
              </a:ext>
            </a:extLst>
          </p:cNvPr>
          <p:cNvSpPr>
            <a:spLocks noGrp="1"/>
          </p:cNvSpPr>
          <p:nvPr>
            <p:ph type="dt" sz="half" idx="10"/>
          </p:nvPr>
        </p:nvSpPr>
        <p:spPr/>
        <p:txBody>
          <a:bodyPr/>
          <a:lstStyle/>
          <a:p>
            <a:fld id="{4F6A6B05-477C-4018-831A-99A433A479E5}" type="datetimeFigureOut">
              <a:rPr lang="en-US" smtClean="0"/>
              <a:t>3/7/2026</a:t>
            </a:fld>
            <a:endParaRPr lang="en-US"/>
          </a:p>
        </p:txBody>
      </p:sp>
      <p:sp>
        <p:nvSpPr>
          <p:cNvPr id="6" name="Footer Placeholder 5">
            <a:extLst>
              <a:ext uri="{FF2B5EF4-FFF2-40B4-BE49-F238E27FC236}">
                <a16:creationId xmlns:a16="http://schemas.microsoft.com/office/drawing/2014/main" id="{F7EE19D2-C5AD-4264-8644-AB9EDFD228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5D8C5F-E3E0-4F08-8614-2DD288943B7E}"/>
              </a:ext>
            </a:extLst>
          </p:cNvPr>
          <p:cNvSpPr>
            <a:spLocks noGrp="1"/>
          </p:cNvSpPr>
          <p:nvPr>
            <p:ph type="sldNum" sz="quarter" idx="12"/>
          </p:nvPr>
        </p:nvSpPr>
        <p:spPr/>
        <p:txBody>
          <a:bodyPr/>
          <a:lstStyle/>
          <a:p>
            <a:fld id="{3EA28BDB-18F4-47D8-AFA0-213D348E2BDB}" type="slidenum">
              <a:rPr lang="en-US" smtClean="0"/>
              <a:t>‹#›</a:t>
            </a:fld>
            <a:endParaRPr lang="en-US"/>
          </a:p>
        </p:txBody>
      </p:sp>
    </p:spTree>
    <p:extLst>
      <p:ext uri="{BB962C8B-B14F-4D97-AF65-F5344CB8AC3E}">
        <p14:creationId xmlns:p14="http://schemas.microsoft.com/office/powerpoint/2010/main" val="19749009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56A63-E098-440C-9324-9327958C47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030D54-70B2-454F-AF31-4B777DDF36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9019DB4-34B1-4C13-A20B-2C1470E50C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22EFA7-4679-42A4-A3D9-89E13300D1AE}"/>
              </a:ext>
            </a:extLst>
          </p:cNvPr>
          <p:cNvSpPr>
            <a:spLocks noGrp="1"/>
          </p:cNvSpPr>
          <p:nvPr>
            <p:ph type="dt" sz="half" idx="10"/>
          </p:nvPr>
        </p:nvSpPr>
        <p:spPr/>
        <p:txBody>
          <a:bodyPr/>
          <a:lstStyle/>
          <a:p>
            <a:fld id="{4F6A6B05-477C-4018-831A-99A433A479E5}" type="datetimeFigureOut">
              <a:rPr lang="en-US" smtClean="0"/>
              <a:t>3/7/2026</a:t>
            </a:fld>
            <a:endParaRPr lang="en-US"/>
          </a:p>
        </p:txBody>
      </p:sp>
      <p:sp>
        <p:nvSpPr>
          <p:cNvPr id="6" name="Footer Placeholder 5">
            <a:extLst>
              <a:ext uri="{FF2B5EF4-FFF2-40B4-BE49-F238E27FC236}">
                <a16:creationId xmlns:a16="http://schemas.microsoft.com/office/drawing/2014/main" id="{6B84FBFA-223E-4AA6-9071-115F091478E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DBD625-941C-40C4-88CA-41377D750C66}"/>
              </a:ext>
            </a:extLst>
          </p:cNvPr>
          <p:cNvSpPr>
            <a:spLocks noGrp="1"/>
          </p:cNvSpPr>
          <p:nvPr>
            <p:ph type="sldNum" sz="quarter" idx="12"/>
          </p:nvPr>
        </p:nvSpPr>
        <p:spPr/>
        <p:txBody>
          <a:bodyPr/>
          <a:lstStyle/>
          <a:p>
            <a:fld id="{3EA28BDB-18F4-47D8-AFA0-213D348E2BDB}" type="slidenum">
              <a:rPr lang="en-US" smtClean="0"/>
              <a:t>‹#›</a:t>
            </a:fld>
            <a:endParaRPr lang="en-US"/>
          </a:p>
        </p:txBody>
      </p:sp>
    </p:spTree>
    <p:extLst>
      <p:ext uri="{BB962C8B-B14F-4D97-AF65-F5344CB8AC3E}">
        <p14:creationId xmlns:p14="http://schemas.microsoft.com/office/powerpoint/2010/main" val="7333212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FAEB7-5C62-4FD5-8667-C8D401BC6BB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5C7A483-A7F3-4B15-BC7D-C9DA3C9C517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E4709E-8F1D-421C-87E0-743FACF22818}"/>
              </a:ext>
            </a:extLst>
          </p:cNvPr>
          <p:cNvSpPr>
            <a:spLocks noGrp="1"/>
          </p:cNvSpPr>
          <p:nvPr>
            <p:ph type="dt" sz="half" idx="10"/>
          </p:nvPr>
        </p:nvSpPr>
        <p:spPr/>
        <p:txBody>
          <a:bodyPr/>
          <a:lstStyle/>
          <a:p>
            <a:fld id="{4F6A6B05-477C-4018-831A-99A433A479E5}" type="datetimeFigureOut">
              <a:rPr lang="en-US" smtClean="0"/>
              <a:t>3/7/2026</a:t>
            </a:fld>
            <a:endParaRPr lang="en-US"/>
          </a:p>
        </p:txBody>
      </p:sp>
      <p:sp>
        <p:nvSpPr>
          <p:cNvPr id="5" name="Footer Placeholder 4">
            <a:extLst>
              <a:ext uri="{FF2B5EF4-FFF2-40B4-BE49-F238E27FC236}">
                <a16:creationId xmlns:a16="http://schemas.microsoft.com/office/drawing/2014/main" id="{7843BA16-3DE9-4E4A-9281-ABBBCBC410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568303-89C1-4EBD-8A68-9359F4190501}"/>
              </a:ext>
            </a:extLst>
          </p:cNvPr>
          <p:cNvSpPr>
            <a:spLocks noGrp="1"/>
          </p:cNvSpPr>
          <p:nvPr>
            <p:ph type="sldNum" sz="quarter" idx="12"/>
          </p:nvPr>
        </p:nvSpPr>
        <p:spPr/>
        <p:txBody>
          <a:bodyPr/>
          <a:lstStyle/>
          <a:p>
            <a:fld id="{3EA28BDB-18F4-47D8-AFA0-213D348E2BDB}" type="slidenum">
              <a:rPr lang="en-US" smtClean="0"/>
              <a:t>‹#›</a:t>
            </a:fld>
            <a:endParaRPr lang="en-US"/>
          </a:p>
        </p:txBody>
      </p:sp>
    </p:spTree>
    <p:extLst>
      <p:ext uri="{BB962C8B-B14F-4D97-AF65-F5344CB8AC3E}">
        <p14:creationId xmlns:p14="http://schemas.microsoft.com/office/powerpoint/2010/main" val="2744450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3ACA4C-E3AF-4F89-8436-D9DD4DA966A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31C658B-FAB3-49D1-9D0F-642235C782E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69CE98-6602-4B70-B734-62E9EF78DF18}"/>
              </a:ext>
            </a:extLst>
          </p:cNvPr>
          <p:cNvSpPr>
            <a:spLocks noGrp="1"/>
          </p:cNvSpPr>
          <p:nvPr>
            <p:ph type="dt" sz="half" idx="10"/>
          </p:nvPr>
        </p:nvSpPr>
        <p:spPr/>
        <p:txBody>
          <a:bodyPr/>
          <a:lstStyle/>
          <a:p>
            <a:fld id="{4F6A6B05-477C-4018-831A-99A433A479E5}" type="datetimeFigureOut">
              <a:rPr lang="en-US" smtClean="0"/>
              <a:t>3/7/2026</a:t>
            </a:fld>
            <a:endParaRPr lang="en-US"/>
          </a:p>
        </p:txBody>
      </p:sp>
      <p:sp>
        <p:nvSpPr>
          <p:cNvPr id="5" name="Footer Placeholder 4">
            <a:extLst>
              <a:ext uri="{FF2B5EF4-FFF2-40B4-BE49-F238E27FC236}">
                <a16:creationId xmlns:a16="http://schemas.microsoft.com/office/drawing/2014/main" id="{6BB02744-19FF-4D76-BB18-580C00FA9A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7B5138-96EA-4504-9116-D667625FEA13}"/>
              </a:ext>
            </a:extLst>
          </p:cNvPr>
          <p:cNvSpPr>
            <a:spLocks noGrp="1"/>
          </p:cNvSpPr>
          <p:nvPr>
            <p:ph type="sldNum" sz="quarter" idx="12"/>
          </p:nvPr>
        </p:nvSpPr>
        <p:spPr/>
        <p:txBody>
          <a:bodyPr/>
          <a:lstStyle/>
          <a:p>
            <a:fld id="{3EA28BDB-18F4-47D8-AFA0-213D348E2BDB}" type="slidenum">
              <a:rPr lang="en-US" smtClean="0"/>
              <a:t>‹#›</a:t>
            </a:fld>
            <a:endParaRPr lang="en-US"/>
          </a:p>
        </p:txBody>
      </p:sp>
    </p:spTree>
    <p:extLst>
      <p:ext uri="{BB962C8B-B14F-4D97-AF65-F5344CB8AC3E}">
        <p14:creationId xmlns:p14="http://schemas.microsoft.com/office/powerpoint/2010/main" val="7429624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B91A48-CF03-4928-8B7D-03C1C2FA5A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98748D7-4B4C-4ADA-B3E0-ED7A61322D0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497F35-3AD2-4DC3-B635-CA8009A94F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6A6B05-477C-4018-831A-99A433A479E5}" type="datetimeFigureOut">
              <a:rPr lang="en-US" smtClean="0"/>
              <a:t>3/7/2026</a:t>
            </a:fld>
            <a:endParaRPr lang="en-US"/>
          </a:p>
        </p:txBody>
      </p:sp>
      <p:sp>
        <p:nvSpPr>
          <p:cNvPr id="5" name="Footer Placeholder 4">
            <a:extLst>
              <a:ext uri="{FF2B5EF4-FFF2-40B4-BE49-F238E27FC236}">
                <a16:creationId xmlns:a16="http://schemas.microsoft.com/office/drawing/2014/main" id="{FF9A6452-8A5D-484F-95EF-44504C6A43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6E220DE-902D-454D-93B5-AF88FBCEF5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EA28BDB-18F4-47D8-AFA0-213D348E2BDB}" type="slidenum">
              <a:rPr lang="en-US" smtClean="0"/>
              <a:t>‹#›</a:t>
            </a:fld>
            <a:endParaRPr lang="en-US"/>
          </a:p>
        </p:txBody>
      </p:sp>
    </p:spTree>
    <p:extLst>
      <p:ext uri="{BB962C8B-B14F-4D97-AF65-F5344CB8AC3E}">
        <p14:creationId xmlns:p14="http://schemas.microsoft.com/office/powerpoint/2010/main" val="27421903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043CCCDE-FE42-4AD4-B946-21AD1E486B0C}"/>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2049" name="Picture 26">
            <a:extLst>
              <a:ext uri="{FF2B5EF4-FFF2-40B4-BE49-F238E27FC236}">
                <a16:creationId xmlns:a16="http://schemas.microsoft.com/office/drawing/2014/main" id="{62F8D36E-13AE-42A5-9DEA-AEAB99B9B3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99448" y="457200"/>
            <a:ext cx="3543300" cy="234356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5315DA55-917D-4F7E-8700-AB4725AABAA0}"/>
              </a:ext>
            </a:extLst>
          </p:cNvPr>
          <p:cNvSpPr>
            <a:spLocks noChangeArrowheads="1"/>
          </p:cNvSpPr>
          <p:nvPr/>
        </p:nvSpPr>
        <p:spPr bwMode="auto">
          <a:xfrm>
            <a:off x="0" y="3095417"/>
            <a:ext cx="11967882"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Arial" panose="020B0604020202020204" pitchFamily="34" charset="0"/>
                <a:ea typeface="Calibri" panose="020F0502020204030204" pitchFamily="34" charset="0"/>
              </a:rPr>
              <a:t> </a:t>
            </a: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Arial" panose="020B0604020202020204" pitchFamily="34" charset="0"/>
                <a:ea typeface="Calibri" panose="020F0502020204030204" pitchFamily="34" charset="0"/>
              </a:rPr>
              <a:t> </a:t>
            </a: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rgbClr val="000000"/>
                </a:solidFill>
                <a:effectLst/>
                <a:latin typeface="Arial" panose="020B0604020202020204" pitchFamily="34" charset="0"/>
                <a:ea typeface="Calibri" panose="020F0502020204030204" pitchFamily="34" charset="0"/>
              </a:rPr>
              <a:t>NAME: NEEMA  MAGABE </a:t>
            </a: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rgbClr val="000000"/>
                </a:solidFill>
                <a:effectLst/>
                <a:latin typeface="Arial" panose="020B0604020202020204" pitchFamily="34" charset="0"/>
                <a:ea typeface="Calibri" panose="020F0502020204030204" pitchFamily="34" charset="0"/>
              </a:rPr>
              <a:t>REG NO:22/00135 </a:t>
            </a: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rgbClr val="000000"/>
                </a:solidFill>
                <a:effectLst/>
                <a:latin typeface="Arial" panose="020B0604020202020204" pitchFamily="34" charset="0"/>
                <a:ea typeface="Calibri" panose="020F0502020204030204" pitchFamily="34" charset="0"/>
              </a:rPr>
              <a:t>COURSE: BACHELOR OF SCIENCE IN DATA SCIENCE </a:t>
            </a: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rgbClr val="000000"/>
                </a:solidFill>
                <a:effectLst/>
                <a:latin typeface="Arial" panose="020B0604020202020204" pitchFamily="34" charset="0"/>
                <a:ea typeface="Calibri" panose="020F0502020204030204" pitchFamily="34" charset="0"/>
              </a:rPr>
              <a:t>YEAR OF STUDY: 3.1 </a:t>
            </a: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rgbClr val="000000"/>
                </a:solidFill>
                <a:effectLst/>
                <a:latin typeface="Arial" panose="020B0604020202020204" pitchFamily="34" charset="0"/>
                <a:ea typeface="Calibri" panose="020F0502020204030204" pitchFamily="34" charset="0"/>
              </a:rPr>
              <a:t>UNIT: ONE SEMESTER PROJECT </a:t>
            </a: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rgbClr val="000000"/>
                </a:solidFill>
                <a:effectLst/>
                <a:latin typeface="Arial" panose="020B0604020202020204" pitchFamily="34" charset="0"/>
                <a:ea typeface="Calibri" panose="020F0502020204030204" pitchFamily="34" charset="0"/>
              </a:rPr>
              <a:t>TITLE: TELCOM CUSTOMER CHURN PREDICTION </a:t>
            </a: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rgbClr val="000000"/>
                </a:solidFill>
                <a:effectLst/>
                <a:latin typeface="Arial" panose="020B0604020202020204" pitchFamily="34" charset="0"/>
                <a:ea typeface="Calibri" panose="020F0502020204030204" pitchFamily="34" charset="0"/>
              </a:rPr>
              <a:t>SUPERVISOR:RISPER KENDI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863778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1F3E6-C0F0-4BE2-A740-A87443A7949B}"/>
              </a:ext>
            </a:extLst>
          </p:cNvPr>
          <p:cNvSpPr>
            <a:spLocks noGrp="1"/>
          </p:cNvSpPr>
          <p:nvPr>
            <p:ph type="ctrTitle"/>
          </p:nvPr>
        </p:nvSpPr>
        <p:spPr>
          <a:xfrm>
            <a:off x="1524000" y="1"/>
            <a:ext cx="9144000" cy="1586752"/>
          </a:xfrm>
        </p:spPr>
        <p:txBody>
          <a:bodyPr/>
          <a:lstStyle/>
          <a:p>
            <a:r>
              <a:rPr lang="en-US" sz="1800" b="1" kern="0" dirty="0">
                <a:solidFill>
                  <a:srgbClr val="000000"/>
                </a:solidFill>
                <a:effectLst/>
                <a:latin typeface="Times New Roman" panose="02020603050405020304" pitchFamily="18" charset="0"/>
                <a:ea typeface="Times New Roman" panose="02020603050405020304" pitchFamily="18" charset="0"/>
              </a:rPr>
              <a:t>INTROCUTION </a:t>
            </a:r>
            <a:br>
              <a:rPr lang="en-US" sz="1800" b="1" kern="0" dirty="0">
                <a:solidFill>
                  <a:srgbClr val="000000"/>
                </a:solidFill>
                <a:effectLst/>
                <a:latin typeface="Times New Roman" panose="02020603050405020304" pitchFamily="18" charset="0"/>
                <a:ea typeface="Times New Roman" panose="02020603050405020304" pitchFamily="18" charset="0"/>
              </a:rPr>
            </a:br>
            <a:endParaRPr lang="en-US" dirty="0"/>
          </a:p>
        </p:txBody>
      </p:sp>
      <p:sp>
        <p:nvSpPr>
          <p:cNvPr id="3" name="Subtitle 2">
            <a:extLst>
              <a:ext uri="{FF2B5EF4-FFF2-40B4-BE49-F238E27FC236}">
                <a16:creationId xmlns:a16="http://schemas.microsoft.com/office/drawing/2014/main" id="{E17BE112-BDE0-4A6F-83F2-C8B787ACBEA3}"/>
              </a:ext>
            </a:extLst>
          </p:cNvPr>
          <p:cNvSpPr>
            <a:spLocks noGrp="1"/>
          </p:cNvSpPr>
          <p:nvPr>
            <p:ph type="subTitle" idx="1"/>
          </p:nvPr>
        </p:nvSpPr>
        <p:spPr>
          <a:xfrm>
            <a:off x="4481" y="1035424"/>
            <a:ext cx="11869271" cy="5822575"/>
          </a:xfrm>
        </p:spPr>
        <p:txBody>
          <a:bodyPr>
            <a:normAutofit/>
          </a:bodyPr>
          <a:lstStyle/>
          <a:p>
            <a:pPr marL="6350" indent="-6350">
              <a:lnSpc>
                <a:spcPct val="104000"/>
              </a:lnSpc>
              <a:spcAft>
                <a:spcPts val="1335"/>
              </a:spcAft>
            </a:pP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Customer churn refers to the situation where customers discontinue their services with a provider within a given period.</a:t>
            </a: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Customer churn has become one of the most critical challenges facing telecommunication companies in today’s highly competitive market. With many service providers offering similar call, data, and messaging packages, customers can easily switch from one network to another if they feel dissatisfied. As a result, telecom companies are losing a significant number of customers every year, which directly affects revenue and long-term sustainability. Understanding why customers leave and predicting who is likely to churn is therefore very important.</a:t>
            </a:r>
            <a:r>
              <a:rPr lang="en-US" sz="20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My project focuses on telecom customer churn analysis using data science techniques. By analyzing historical customer data, patterns and behaviors associated with churn can be identified. The study aims to build a predictive model that helps telecom companies identify customers at risk of leaving, enabling them to take preventive actions such as offering personalized incentives or improving service quality</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0999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8FE21-7501-47D4-BE63-5818B7E22F3A}"/>
              </a:ext>
            </a:extLst>
          </p:cNvPr>
          <p:cNvSpPr>
            <a:spLocks noGrp="1"/>
          </p:cNvSpPr>
          <p:nvPr>
            <p:ph type="ctrTitle"/>
          </p:nvPr>
        </p:nvSpPr>
        <p:spPr>
          <a:xfrm>
            <a:off x="1524000" y="188259"/>
            <a:ext cx="9144000" cy="1183341"/>
          </a:xfrm>
        </p:spPr>
        <p:txBody>
          <a:bodyPr/>
          <a:lstStyle/>
          <a:p>
            <a:r>
              <a:rPr lang="en-US" sz="1800" b="1" dirty="0">
                <a:solidFill>
                  <a:srgbClr val="000000"/>
                </a:solidFill>
                <a:effectLst/>
                <a:latin typeface="Times New Roman" panose="02020603050405020304" pitchFamily="18" charset="0"/>
                <a:ea typeface="Times New Roman" panose="02020603050405020304" pitchFamily="18" charset="0"/>
              </a:rPr>
              <a:t>BACKGROUND STUDY </a:t>
            </a:r>
            <a:br>
              <a:rPr lang="en-US" sz="1800" b="1" dirty="0">
                <a:solidFill>
                  <a:srgbClr val="000000"/>
                </a:solidFill>
                <a:effectLst/>
                <a:latin typeface="Times New Roman" panose="02020603050405020304" pitchFamily="18" charset="0"/>
                <a:ea typeface="Times New Roman" panose="02020603050405020304" pitchFamily="18" charset="0"/>
              </a:rPr>
            </a:br>
            <a:endParaRPr lang="en-US" dirty="0"/>
          </a:p>
        </p:txBody>
      </p:sp>
      <p:sp>
        <p:nvSpPr>
          <p:cNvPr id="3" name="Subtitle 2">
            <a:extLst>
              <a:ext uri="{FF2B5EF4-FFF2-40B4-BE49-F238E27FC236}">
                <a16:creationId xmlns:a16="http://schemas.microsoft.com/office/drawing/2014/main" id="{002C2F34-746A-4BDC-8188-DB05205F9C03}"/>
              </a:ext>
            </a:extLst>
          </p:cNvPr>
          <p:cNvSpPr>
            <a:spLocks noGrp="1"/>
          </p:cNvSpPr>
          <p:nvPr>
            <p:ph type="subTitle" idx="1"/>
          </p:nvPr>
        </p:nvSpPr>
        <p:spPr>
          <a:xfrm>
            <a:off x="188259" y="820271"/>
            <a:ext cx="11873753" cy="5849470"/>
          </a:xfrm>
        </p:spPr>
        <p:txBody>
          <a:bodyPr>
            <a:normAutofit/>
          </a:bodyPr>
          <a:lstStyle/>
          <a:p>
            <a:pPr marL="6350" indent="-6350">
              <a:lnSpc>
                <a:spcPct val="104000"/>
              </a:lnSpc>
              <a:spcAft>
                <a:spcPts val="1335"/>
              </a:spcAft>
            </a:pPr>
            <a:r>
              <a:rPr lang="en-US" sz="2000" dirty="0">
                <a:solidFill>
                  <a:srgbClr val="000000"/>
                </a:solidFill>
                <a:effectLst/>
                <a:latin typeface="Times New Roman" panose="02020603050405020304" pitchFamily="18" charset="0"/>
                <a:ea typeface="Times New Roman" panose="02020603050405020304" pitchFamily="18" charset="0"/>
              </a:rPr>
              <a:t>The telecommunications industry has experienced rapid growth over the past two years, driven by advancements in mobile technology, internet connectivity, and digital services. As the number of subscribers increases, competition among telecom operators has also intensified. Companies now focus not only on acquiring new customers but also on retaining existing ones, as customer acquisition is often more expensive than retention. </a:t>
            </a:r>
          </a:p>
          <a:p>
            <a:pPr marL="6350" indent="-6350">
              <a:lnSpc>
                <a:spcPct val="104000"/>
              </a:lnSpc>
              <a:spcAft>
                <a:spcPts val="1335"/>
              </a:spcAft>
            </a:pPr>
            <a:r>
              <a:rPr lang="en-US" sz="2000" dirty="0">
                <a:solidFill>
                  <a:srgbClr val="000000"/>
                </a:solidFill>
                <a:effectLst/>
                <a:latin typeface="Times New Roman" panose="02020603050405020304" pitchFamily="18" charset="0"/>
                <a:ea typeface="Times New Roman" panose="02020603050405020304" pitchFamily="18" charset="0"/>
              </a:rPr>
              <a:t>Customer churn refers to the situation where customers discontinue their services with a provider within a given period. Churn can occur due to several factors such as poor network quality, high service charges, lack of customer support, or better offers from competitors. Without proper analysis, telecom companies struggle to understand the root causes of churn and fail to respond effectively. </a:t>
            </a:r>
          </a:p>
          <a:p>
            <a:pPr marL="6350" indent="-6350">
              <a:lnSpc>
                <a:spcPct val="104000"/>
              </a:lnSpc>
              <a:spcAft>
                <a:spcPts val="1335"/>
              </a:spcAft>
            </a:pPr>
            <a:r>
              <a:rPr lang="en-US" sz="2000" dirty="0">
                <a:solidFill>
                  <a:srgbClr val="000000"/>
                </a:solidFill>
                <a:effectLst/>
                <a:latin typeface="Times New Roman" panose="02020603050405020304" pitchFamily="18" charset="0"/>
                <a:ea typeface="Times New Roman" panose="02020603050405020304" pitchFamily="18" charset="0"/>
              </a:rPr>
              <a:t>With the rise of big data and machine learning, data-driven decision-making has become a powerful tool in addressing customer churn. Telecom companies collect large volumes of customer data, including usage patterns, billing information, and service interactions. When analyzed properly, this data can provide valuable insights that help predict churn and support strategic business decisions. </a:t>
            </a:r>
          </a:p>
          <a:p>
            <a:endParaRPr lang="en-US" dirty="0"/>
          </a:p>
        </p:txBody>
      </p:sp>
    </p:spTree>
    <p:extLst>
      <p:ext uri="{BB962C8B-B14F-4D97-AF65-F5344CB8AC3E}">
        <p14:creationId xmlns:p14="http://schemas.microsoft.com/office/powerpoint/2010/main" val="24786739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A5B82-B894-408A-859F-FD24F042E03A}"/>
              </a:ext>
            </a:extLst>
          </p:cNvPr>
          <p:cNvSpPr>
            <a:spLocks noGrp="1"/>
          </p:cNvSpPr>
          <p:nvPr>
            <p:ph type="title"/>
          </p:nvPr>
        </p:nvSpPr>
        <p:spPr>
          <a:xfrm>
            <a:off x="838200" y="94130"/>
            <a:ext cx="10515600" cy="551330"/>
          </a:xfrm>
        </p:spPr>
        <p:txBody>
          <a:bodyPr>
            <a:normAutofit fontScale="90000"/>
          </a:bodyPr>
          <a:lstStyle/>
          <a:p>
            <a:pPr marL="539750" indent="-6350">
              <a:lnSpc>
                <a:spcPct val="107000"/>
              </a:lnSpc>
              <a:spcAft>
                <a:spcPts val="780"/>
              </a:spcAft>
            </a:pPr>
            <a:r>
              <a:rPr lang="en-US" sz="1800" dirty="0">
                <a:solidFill>
                  <a:srgbClr val="000000"/>
                </a:solidFill>
                <a:effectLst/>
                <a:latin typeface="Times New Roman" panose="02020603050405020304" pitchFamily="18" charset="0"/>
                <a:ea typeface="Times New Roman" panose="02020603050405020304" pitchFamily="18" charset="0"/>
              </a:rPr>
              <a:t> </a:t>
            </a:r>
            <a:br>
              <a:rPr lang="en-US" sz="1800" dirty="0">
                <a:solidFill>
                  <a:srgbClr val="000000"/>
                </a:solidFill>
                <a:effectLst/>
                <a:latin typeface="Times New Roman" panose="02020603050405020304" pitchFamily="18" charset="0"/>
                <a:ea typeface="Times New Roman" panose="02020603050405020304" pitchFamily="18" charset="0"/>
              </a:rPr>
            </a:br>
            <a:r>
              <a:rPr lang="en-US" sz="1800" b="1" dirty="0">
                <a:solidFill>
                  <a:srgbClr val="000000"/>
                </a:solidFill>
                <a:effectLst/>
                <a:latin typeface="Times New Roman" panose="02020603050405020304" pitchFamily="18" charset="0"/>
                <a:ea typeface="Times New Roman" panose="02020603050405020304" pitchFamily="18" charset="0"/>
              </a:rPr>
              <a:t>LITERATURE REVIEW </a:t>
            </a:r>
            <a:br>
              <a:rPr lang="en-US" sz="1800" b="1" dirty="0">
                <a:solidFill>
                  <a:srgbClr val="000000"/>
                </a:solidFill>
                <a:effectLst/>
                <a:latin typeface="Times New Roman" panose="02020603050405020304" pitchFamily="18" charset="0"/>
                <a:ea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B875F544-F3DF-4C4E-92E2-4D6782147FB8}"/>
              </a:ext>
            </a:extLst>
          </p:cNvPr>
          <p:cNvSpPr>
            <a:spLocks noGrp="1"/>
          </p:cNvSpPr>
          <p:nvPr>
            <p:ph idx="1"/>
          </p:nvPr>
        </p:nvSpPr>
        <p:spPr>
          <a:xfrm>
            <a:off x="838200" y="457200"/>
            <a:ext cx="10515600" cy="6508376"/>
          </a:xfrm>
        </p:spPr>
        <p:txBody>
          <a:bodyPr>
            <a:noAutofit/>
          </a:bodyPr>
          <a:lstStyle/>
          <a:p>
            <a:pPr marL="6350" indent="-6350">
              <a:lnSpc>
                <a:spcPct val="104000"/>
              </a:lnSpc>
              <a:spcAft>
                <a:spcPts val="1335"/>
              </a:spcAft>
            </a:pPr>
            <a:r>
              <a:rPr lang="en-US" sz="2400" dirty="0">
                <a:solidFill>
                  <a:srgbClr val="000000"/>
                </a:solidFill>
                <a:effectLst/>
                <a:latin typeface="Times New Roman" panose="02020603050405020304" pitchFamily="18" charset="0"/>
                <a:ea typeface="Times New Roman" panose="02020603050405020304" pitchFamily="18" charset="0"/>
              </a:rPr>
              <a:t>Several studies have explored customer churn prediction in the telecommunications sector using statistical and machine learning techniques. Traditional methods such as logistic regression have been widely used due to their simplicity and interpretability. These models help identify key factors influencing churn, such as customer tenure, monthly charges, and service usage. </a:t>
            </a:r>
          </a:p>
          <a:p>
            <a:pPr marL="6350" indent="-6350">
              <a:lnSpc>
                <a:spcPct val="104000"/>
              </a:lnSpc>
              <a:spcAft>
                <a:spcPts val="1335"/>
              </a:spcAft>
            </a:pPr>
            <a:r>
              <a:rPr lang="en-US" sz="2400" dirty="0">
                <a:solidFill>
                  <a:srgbClr val="000000"/>
                </a:solidFill>
                <a:effectLst/>
                <a:latin typeface="Times New Roman" panose="02020603050405020304" pitchFamily="18" charset="0"/>
                <a:ea typeface="Times New Roman" panose="02020603050405020304" pitchFamily="18" charset="0"/>
              </a:rPr>
              <a:t>More recent research has applied advanced machine learning algorithms including decision trees, random forests, support vector machines, and gradient boosting techniques. These approaches often achieve higher predictive accuracy by capturing complex patterns in customer behavior. Studies show that ensemble models generally perform better than single classifiers in churn prediction tasks. </a:t>
            </a:r>
          </a:p>
          <a:p>
            <a:r>
              <a:rPr lang="en-US" sz="2400" dirty="0">
                <a:solidFill>
                  <a:srgbClr val="000000"/>
                </a:solidFill>
                <a:effectLst/>
                <a:latin typeface="Times New Roman" panose="02020603050405020304" pitchFamily="18" charset="0"/>
                <a:ea typeface="Times New Roman" panose="02020603050405020304" pitchFamily="18" charset="0"/>
              </a:rPr>
              <a:t>In addition, researchers have emphasized the importance of data preprocessing, feature selection, and class imbalance handling in churn analysis. Techniques such as normalization, encoding categorical variables, and using evaluation metrics like precision, recall, and F1-score have been recommended to ensure reliable and robust churn prediction models </a:t>
            </a:r>
            <a:endParaRPr lang="en-US" sz="2400" dirty="0"/>
          </a:p>
        </p:txBody>
      </p:sp>
    </p:spTree>
    <p:extLst>
      <p:ext uri="{BB962C8B-B14F-4D97-AF65-F5344CB8AC3E}">
        <p14:creationId xmlns:p14="http://schemas.microsoft.com/office/powerpoint/2010/main" val="38690606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E08D3-7C73-41CF-86AD-73D3CA1A53CC}"/>
              </a:ext>
            </a:extLst>
          </p:cNvPr>
          <p:cNvSpPr>
            <a:spLocks noGrp="1"/>
          </p:cNvSpPr>
          <p:nvPr>
            <p:ph type="title"/>
          </p:nvPr>
        </p:nvSpPr>
        <p:spPr/>
        <p:txBody>
          <a:bodyPr/>
          <a:lstStyle/>
          <a:p>
            <a:r>
              <a:rPr lang="en-US" sz="1800" b="1" dirty="0">
                <a:solidFill>
                  <a:srgbClr val="000000"/>
                </a:solidFill>
                <a:effectLst/>
                <a:latin typeface="Times New Roman" panose="02020603050405020304" pitchFamily="18" charset="0"/>
                <a:ea typeface="Times New Roman" panose="02020603050405020304" pitchFamily="18" charset="0"/>
              </a:rPr>
              <a:t>OBJECTIVES OF THE STUDY </a:t>
            </a:r>
            <a:br>
              <a:rPr lang="en-US" sz="1800" b="1" dirty="0">
                <a:solidFill>
                  <a:srgbClr val="000000"/>
                </a:solidFill>
                <a:effectLst/>
                <a:latin typeface="Times New Roman" panose="02020603050405020304" pitchFamily="18" charset="0"/>
                <a:ea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736810B5-EFD0-4A8D-B3DF-5A554BBE2504}"/>
              </a:ext>
            </a:extLst>
          </p:cNvPr>
          <p:cNvSpPr>
            <a:spLocks noGrp="1"/>
          </p:cNvSpPr>
          <p:nvPr>
            <p:ph idx="1"/>
          </p:nvPr>
        </p:nvSpPr>
        <p:spPr/>
        <p:txBody>
          <a:bodyPr>
            <a:normAutofit lnSpcReduction="10000"/>
          </a:bodyPr>
          <a:lstStyle/>
          <a:p>
            <a:pPr marL="539750" indent="0">
              <a:lnSpc>
                <a:spcPct val="104000"/>
              </a:lnSpc>
              <a:spcAft>
                <a:spcPts val="840"/>
              </a:spcAft>
              <a:buNone/>
            </a:pPr>
            <a:r>
              <a:rPr lang="en-US" sz="2200" dirty="0">
                <a:solidFill>
                  <a:srgbClr val="000000"/>
                </a:solidFill>
                <a:effectLst/>
                <a:latin typeface="Times New Roman" panose="02020603050405020304" pitchFamily="18" charset="0"/>
                <a:ea typeface="Times New Roman" panose="02020603050405020304" pitchFamily="18" charset="0"/>
              </a:rPr>
              <a:t>Main objective:</a:t>
            </a:r>
          </a:p>
          <a:p>
            <a:pPr marL="539750" indent="0">
              <a:lnSpc>
                <a:spcPct val="104000"/>
              </a:lnSpc>
              <a:spcAft>
                <a:spcPts val="840"/>
              </a:spcAft>
              <a:buNone/>
            </a:pPr>
            <a:r>
              <a:rPr lang="en-US" sz="2200" dirty="0">
                <a:solidFill>
                  <a:srgbClr val="000000"/>
                </a:solidFill>
                <a:effectLst/>
                <a:latin typeface="Times New Roman" panose="02020603050405020304" pitchFamily="18" charset="0"/>
                <a:ea typeface="Times New Roman" panose="02020603050405020304" pitchFamily="18" charset="0"/>
              </a:rPr>
              <a:t>To develop model that predict customer churn in the telecommunication industry. </a:t>
            </a:r>
          </a:p>
          <a:p>
            <a:pPr marL="546100" indent="-6350">
              <a:lnSpc>
                <a:spcPct val="104000"/>
              </a:lnSpc>
              <a:spcAft>
                <a:spcPts val="1530"/>
              </a:spcAft>
            </a:pPr>
            <a:r>
              <a:rPr lang="en-US" sz="2200" dirty="0">
                <a:solidFill>
                  <a:srgbClr val="000000"/>
                </a:solidFill>
                <a:effectLst/>
                <a:latin typeface="Times New Roman" panose="02020603050405020304" pitchFamily="18" charset="0"/>
                <a:ea typeface="Times New Roman" panose="02020603050405020304" pitchFamily="18" charset="0"/>
              </a:rPr>
              <a:t>Specific objectives:  </a:t>
            </a:r>
          </a:p>
          <a:p>
            <a:pPr marL="342900" lvl="0" indent="-342900" fontAlgn="base">
              <a:lnSpc>
                <a:spcPct val="104000"/>
              </a:lnSpc>
              <a:spcAft>
                <a:spcPts val="50"/>
              </a:spcAft>
              <a:buClr>
                <a:srgbClr val="000000"/>
              </a:buClr>
              <a:buSzPts val="1200"/>
              <a:buFont typeface="Arial" panose="020B0604020202020204" pitchFamily="34" charset="0"/>
              <a:buChar char="•"/>
            </a:pPr>
            <a:r>
              <a:rPr lang="en-US" sz="2200" u="none" strike="noStrike"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To review and analyze existing telecom customer churn prediction techniques and systems </a:t>
            </a:r>
          </a:p>
          <a:p>
            <a:pPr marL="342900" lvl="0" indent="-342900" fontAlgn="base">
              <a:lnSpc>
                <a:spcPct val="104000"/>
              </a:lnSpc>
              <a:spcAft>
                <a:spcPts val="45"/>
              </a:spcAft>
              <a:buClr>
                <a:srgbClr val="000000"/>
              </a:buClr>
              <a:buSzPts val="1200"/>
              <a:buFont typeface="Arial" panose="020B0604020202020204" pitchFamily="34" charset="0"/>
              <a:buChar char="•"/>
            </a:pPr>
            <a:r>
              <a:rPr lang="en-US" sz="2200" u="none" strike="noStrike"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To design a churn prediction framework using data science and machine learning approaches </a:t>
            </a:r>
          </a:p>
          <a:p>
            <a:pPr marL="342900" lvl="0" indent="-342900" fontAlgn="base">
              <a:lnSpc>
                <a:spcPct val="104000"/>
              </a:lnSpc>
              <a:spcAft>
                <a:spcPts val="50"/>
              </a:spcAft>
              <a:buClr>
                <a:srgbClr val="000000"/>
              </a:buClr>
              <a:buSzPts val="1200"/>
              <a:buFont typeface="Arial" panose="020B0604020202020204" pitchFamily="34" charset="0"/>
              <a:buChar char="•"/>
            </a:pPr>
            <a:r>
              <a:rPr lang="en-US" sz="2200" u="none" strike="noStrike"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To develop a predictive churn model using Python and relevant libraries </a:t>
            </a:r>
          </a:p>
          <a:p>
            <a:pPr marL="342900" lvl="0" indent="-342900" fontAlgn="base">
              <a:lnSpc>
                <a:spcPct val="104000"/>
              </a:lnSpc>
              <a:spcAft>
                <a:spcPts val="1100"/>
              </a:spcAft>
              <a:buClr>
                <a:srgbClr val="000000"/>
              </a:buClr>
              <a:buSzPts val="1200"/>
              <a:buFont typeface="Arial" panose="020B0604020202020204" pitchFamily="34" charset="0"/>
              <a:buChar char="•"/>
            </a:pPr>
            <a:r>
              <a:rPr lang="en-US" sz="2200" u="none" strike="noStrike" dirty="0">
                <a:solidFill>
                  <a:srgbClr val="000000"/>
                </a:solidFill>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To validate the model’s performance using appropriate evaluation metrics </a:t>
            </a:r>
          </a:p>
          <a:p>
            <a:endParaRPr lang="en-US" dirty="0"/>
          </a:p>
        </p:txBody>
      </p:sp>
    </p:spTree>
    <p:extLst>
      <p:ext uri="{BB962C8B-B14F-4D97-AF65-F5344CB8AC3E}">
        <p14:creationId xmlns:p14="http://schemas.microsoft.com/office/powerpoint/2010/main" val="38958805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54F7E-9813-4DEC-9869-4214EB9787B2}"/>
              </a:ext>
            </a:extLst>
          </p:cNvPr>
          <p:cNvSpPr>
            <a:spLocks noGrp="1"/>
          </p:cNvSpPr>
          <p:nvPr>
            <p:ph type="title"/>
          </p:nvPr>
        </p:nvSpPr>
        <p:spPr>
          <a:xfrm>
            <a:off x="838200" y="1"/>
            <a:ext cx="10515600" cy="1048870"/>
          </a:xfrm>
        </p:spPr>
        <p:txBody>
          <a:bodyPr>
            <a:normAutofit/>
          </a:bodyPr>
          <a:lstStyle/>
          <a:p>
            <a:r>
              <a:rPr lang="en-US" sz="1800" b="1" dirty="0">
                <a:solidFill>
                  <a:srgbClr val="000000"/>
                </a:solidFill>
                <a:effectLst/>
                <a:latin typeface="Times New Roman" panose="02020603050405020304" pitchFamily="18" charset="0"/>
                <a:ea typeface="Times New Roman" panose="02020603050405020304" pitchFamily="18" charset="0"/>
              </a:rPr>
              <a:t>METHODOLOGY </a:t>
            </a:r>
            <a:br>
              <a:rPr lang="en-US" sz="1800" b="1" dirty="0">
                <a:solidFill>
                  <a:srgbClr val="000000"/>
                </a:solidFill>
                <a:effectLst/>
                <a:latin typeface="Times New Roman" panose="02020603050405020304" pitchFamily="18" charset="0"/>
                <a:ea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3E3BA722-101E-4500-A522-2874E7C5FDA4}"/>
              </a:ext>
            </a:extLst>
          </p:cNvPr>
          <p:cNvSpPr>
            <a:spLocks noGrp="1"/>
          </p:cNvSpPr>
          <p:nvPr>
            <p:ph idx="1"/>
          </p:nvPr>
        </p:nvSpPr>
        <p:spPr>
          <a:xfrm>
            <a:off x="838200" y="1143000"/>
            <a:ext cx="10515600" cy="5033963"/>
          </a:xfrm>
        </p:spPr>
        <p:txBody>
          <a:bodyPr>
            <a:normAutofit fontScale="85000" lnSpcReduction="20000"/>
          </a:bodyPr>
          <a:lstStyle/>
          <a:p>
            <a:pPr marL="6350" indent="-6350">
              <a:lnSpc>
                <a:spcPct val="104000"/>
              </a:lnSpc>
              <a:spcAft>
                <a:spcPts val="1335"/>
              </a:spcAft>
            </a:pPr>
            <a:r>
              <a:rPr lang="en-US" sz="2200" dirty="0">
                <a:solidFill>
                  <a:srgbClr val="000000"/>
                </a:solidFill>
                <a:effectLst/>
                <a:latin typeface="Times New Roman" panose="02020603050405020304" pitchFamily="18" charset="0"/>
                <a:ea typeface="Times New Roman" panose="02020603050405020304" pitchFamily="18" charset="0"/>
              </a:rPr>
              <a:t>In this project, I used a publicly available telecom customer churn dataset obtained from Kaggle as the main data source. I also conducted personal research in the library to understand customer churn concepts, existing studies, and commonly used prediction techniques. This combination of real-world data and academic research helped me gain both practical and theoretical insights necessary for the study. </a:t>
            </a:r>
          </a:p>
          <a:p>
            <a:pPr marL="6350" indent="-6350">
              <a:lnSpc>
                <a:spcPct val="104000"/>
              </a:lnSpc>
              <a:spcAft>
                <a:spcPts val="1335"/>
              </a:spcAft>
            </a:pPr>
            <a:r>
              <a:rPr lang="en-US" sz="2200" dirty="0">
                <a:solidFill>
                  <a:srgbClr val="000000"/>
                </a:solidFill>
                <a:effectLst/>
                <a:latin typeface="Times New Roman" panose="02020603050405020304" pitchFamily="18" charset="0"/>
                <a:ea typeface="Times New Roman" panose="02020603050405020304" pitchFamily="18" charset="0"/>
              </a:rPr>
              <a:t>Interviews: Semi-structured discussions were conducted with key telco staff, including customer service and retention teams, to gather insights on customer behavior and retention strategies</a:t>
            </a:r>
          </a:p>
          <a:p>
            <a:pPr marL="6350" indent="-6350">
              <a:lnSpc>
                <a:spcPct val="104000"/>
              </a:lnSpc>
              <a:spcAft>
                <a:spcPts val="1335"/>
              </a:spcAft>
            </a:pPr>
            <a:r>
              <a:rPr lang="en-US" sz="2200" dirty="0">
                <a:solidFill>
                  <a:srgbClr val="000000"/>
                </a:solidFill>
                <a:effectLst/>
                <a:latin typeface="Times New Roman" panose="02020603050405020304" pitchFamily="18" charset="0"/>
                <a:ea typeface="Times New Roman" panose="02020603050405020304" pitchFamily="18" charset="0"/>
              </a:rPr>
              <a:t>Before analysis and modeling, I performed data preprocessing and exploratory data analysis to improve data quality and understand customer behavior. The preprocessing stage involved handling missing values, encoding categorical variables, and removing irrelevant features. Exploratory data analysis was then carried out using descriptive statistics, data visualizations, and correlation analysis to identify patterns, trends, and relationships associated with customer churn. </a:t>
            </a:r>
            <a:endParaRPr lang="en-US" sz="2200" dirty="0">
              <a:solidFill>
                <a:srgbClr val="000000"/>
              </a:solidFill>
              <a:latin typeface="Times New Roman" panose="02020603050405020304" pitchFamily="18" charset="0"/>
              <a:ea typeface="Times New Roman" panose="02020603050405020304" pitchFamily="18" charset="0"/>
            </a:endParaRPr>
          </a:p>
          <a:p>
            <a:pPr marL="0" indent="0">
              <a:lnSpc>
                <a:spcPct val="104000"/>
              </a:lnSpc>
              <a:spcAft>
                <a:spcPts val="1335"/>
              </a:spcAft>
              <a:buNone/>
            </a:pPr>
            <a:r>
              <a:rPr lang="en-US" sz="2200" dirty="0">
                <a:solidFill>
                  <a:srgbClr val="000000"/>
                </a:solidFill>
                <a:effectLst/>
                <a:latin typeface="Times New Roman" panose="02020603050405020304" pitchFamily="18" charset="0"/>
                <a:ea typeface="Times New Roman" panose="02020603050405020304" pitchFamily="18" charset="0"/>
              </a:rPr>
              <a:t>For modeling, I applied machine learning techniques including logistic regression and random forest to predict customer churn. The models were evaluated using accuracy, precision, and F1score to measure their performance. Python and its libraries—Pandas, NumPy, Matplotlib, Seaborn, and Scikit-learn—were used for data manipulation, visualization, model training, and evaluation, while Jupyter Notebook was used as the development environment for implementing and documenting the entire project. </a:t>
            </a:r>
          </a:p>
          <a:p>
            <a:pPr marL="0" indent="0">
              <a:lnSpc>
                <a:spcPct val="104000"/>
              </a:lnSpc>
              <a:spcAft>
                <a:spcPts val="1335"/>
              </a:spcAft>
              <a:buNone/>
            </a:pPr>
            <a:endParaRPr lang="en-US" sz="1800" dirty="0">
              <a:solidFill>
                <a:srgbClr val="000000"/>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7899503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663DC-5AB2-4546-8E5F-3D5A1845D3DE}"/>
              </a:ext>
            </a:extLst>
          </p:cNvPr>
          <p:cNvSpPr>
            <a:spLocks noGrp="1"/>
          </p:cNvSpPr>
          <p:nvPr>
            <p:ph type="ctrTitle"/>
          </p:nvPr>
        </p:nvSpPr>
        <p:spPr>
          <a:xfrm>
            <a:off x="1524000" y="334403"/>
            <a:ext cx="9144000" cy="1655762"/>
          </a:xfrm>
        </p:spPr>
        <p:txBody>
          <a:bodyPr>
            <a:normAutofit/>
          </a:bodyPr>
          <a:lstStyle/>
          <a:p>
            <a:pPr marL="6350" indent="-6350">
              <a:lnSpc>
                <a:spcPct val="107000"/>
              </a:lnSpc>
              <a:spcAft>
                <a:spcPts val="790"/>
              </a:spcAft>
            </a:pPr>
            <a:r>
              <a:rPr lang="en-US" sz="1800" dirty="0">
                <a:solidFill>
                  <a:srgbClr val="000000"/>
                </a:solidFill>
                <a:effectLst/>
                <a:latin typeface="Times New Roman" panose="02020603050405020304" pitchFamily="18" charset="0"/>
                <a:ea typeface="Times New Roman" panose="02020603050405020304" pitchFamily="18" charset="0"/>
              </a:rPr>
              <a:t> </a:t>
            </a:r>
            <a:br>
              <a:rPr lang="en-US" sz="1800" dirty="0">
                <a:solidFill>
                  <a:srgbClr val="000000"/>
                </a:solidFill>
                <a:effectLst/>
                <a:latin typeface="Times New Roman" panose="02020603050405020304" pitchFamily="18" charset="0"/>
                <a:ea typeface="Times New Roman" panose="02020603050405020304" pitchFamily="18" charset="0"/>
              </a:rPr>
            </a:br>
            <a:r>
              <a:rPr lang="en-US" sz="1800" b="1" dirty="0">
                <a:solidFill>
                  <a:srgbClr val="000000"/>
                </a:solidFill>
                <a:effectLst/>
                <a:latin typeface="Times New Roman" panose="02020603050405020304" pitchFamily="18" charset="0"/>
                <a:ea typeface="Times New Roman" panose="02020603050405020304" pitchFamily="18" charset="0"/>
              </a:rPr>
              <a:t>PROBLEM STATEMENT </a:t>
            </a:r>
            <a:br>
              <a:rPr lang="en-US" sz="1800" b="1" dirty="0">
                <a:solidFill>
                  <a:srgbClr val="000000"/>
                </a:solidFill>
                <a:effectLst/>
                <a:latin typeface="Times New Roman" panose="02020603050405020304" pitchFamily="18" charset="0"/>
                <a:ea typeface="Times New Roman" panose="02020603050405020304" pitchFamily="18" charset="0"/>
              </a:rPr>
            </a:br>
            <a:endParaRPr lang="en-US" dirty="0"/>
          </a:p>
        </p:txBody>
      </p:sp>
      <p:sp>
        <p:nvSpPr>
          <p:cNvPr id="3" name="Subtitle 2">
            <a:extLst>
              <a:ext uri="{FF2B5EF4-FFF2-40B4-BE49-F238E27FC236}">
                <a16:creationId xmlns:a16="http://schemas.microsoft.com/office/drawing/2014/main" id="{7BA0610F-FD95-4BE8-AABE-5C837D7EA5D1}"/>
              </a:ext>
            </a:extLst>
          </p:cNvPr>
          <p:cNvSpPr>
            <a:spLocks noGrp="1"/>
          </p:cNvSpPr>
          <p:nvPr>
            <p:ph type="subTitle" idx="1"/>
          </p:nvPr>
        </p:nvSpPr>
        <p:spPr>
          <a:xfrm>
            <a:off x="201706" y="1411942"/>
            <a:ext cx="11990294" cy="4249270"/>
          </a:xfrm>
        </p:spPr>
        <p:txBody>
          <a:bodyPr>
            <a:normAutofit/>
          </a:bodyPr>
          <a:lstStyle/>
          <a:p>
            <a:r>
              <a:rPr lang="en-US" dirty="0">
                <a:solidFill>
                  <a:srgbClr val="000000"/>
                </a:solidFill>
                <a:effectLst/>
                <a:latin typeface="Times New Roman" panose="02020603050405020304" pitchFamily="18" charset="0"/>
                <a:ea typeface="Times New Roman" panose="02020603050405020304" pitchFamily="18" charset="0"/>
              </a:rPr>
              <a:t>My research is to help telecom company to reduce number of  churn, telecommunication companies loss high number of customers due to intense market competition with numerous service provider offering the similar packages and low switching cost, thus customer have many choices. Despite collecting large amount of customer data many telecom providers are unable to effectively identify customers who are likely to stop using their services until the customer cancel the subscription. This lack of early churn prediction leads to revenue loss and increased costs associated with acquiring new customers. Therefore, there is need for a data-driven approach that can accurately predict customer churn and identify the key factors contributing to customer attrition </a:t>
            </a:r>
          </a:p>
          <a:p>
            <a:endParaRPr lang="en-US" dirty="0"/>
          </a:p>
        </p:txBody>
      </p:sp>
    </p:spTree>
    <p:extLst>
      <p:ext uri="{BB962C8B-B14F-4D97-AF65-F5344CB8AC3E}">
        <p14:creationId xmlns:p14="http://schemas.microsoft.com/office/powerpoint/2010/main" val="5175004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3C76C-E63A-45B1-8D19-EE9B7B0E41C0}"/>
              </a:ext>
            </a:extLst>
          </p:cNvPr>
          <p:cNvSpPr>
            <a:spLocks noGrp="1"/>
          </p:cNvSpPr>
          <p:nvPr>
            <p:ph type="title"/>
          </p:nvPr>
        </p:nvSpPr>
        <p:spPr/>
        <p:txBody>
          <a:bodyPr/>
          <a:lstStyle/>
          <a:p>
            <a:r>
              <a:rPr lang="en-US" sz="1800" b="1" kern="0" dirty="0">
                <a:solidFill>
                  <a:srgbClr val="000000"/>
                </a:solidFill>
                <a:effectLst/>
                <a:latin typeface="Times New Roman" panose="02020603050405020304" pitchFamily="18" charset="0"/>
                <a:ea typeface="Times New Roman" panose="02020603050405020304" pitchFamily="18" charset="0"/>
              </a:rPr>
              <a:t>PROBLEM JUSTIFICATION </a:t>
            </a:r>
            <a:br>
              <a:rPr lang="en-US" sz="1800" b="1" kern="0" dirty="0">
                <a:solidFill>
                  <a:srgbClr val="000000"/>
                </a:solidFill>
                <a:effectLst/>
                <a:latin typeface="Times New Roman" panose="02020603050405020304" pitchFamily="18" charset="0"/>
                <a:ea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7F1D084F-9F2F-41C3-B716-B2CC98405830}"/>
              </a:ext>
            </a:extLst>
          </p:cNvPr>
          <p:cNvSpPr>
            <a:spLocks noGrp="1"/>
          </p:cNvSpPr>
          <p:nvPr>
            <p:ph idx="1"/>
          </p:nvPr>
        </p:nvSpPr>
        <p:spPr/>
        <p:txBody>
          <a:bodyPr>
            <a:normAutofit/>
          </a:bodyPr>
          <a:lstStyle/>
          <a:p>
            <a:r>
              <a:rPr lang="en-US" sz="2400" dirty="0">
                <a:solidFill>
                  <a:srgbClr val="000000"/>
                </a:solidFill>
                <a:effectLst/>
                <a:latin typeface="Times New Roman" panose="02020603050405020304" pitchFamily="18" charset="0"/>
                <a:ea typeface="Times New Roman" panose="02020603050405020304" pitchFamily="18" charset="0"/>
              </a:rPr>
              <a:t>This project is important because customer churn directly affects the profitability and growth of telecom companies. By predicting churn in advance, companies can implement targeted retention strategies, reduce revenue loss, and improve customer satisfaction. The study also provides practical experience in applying data science techniques to real-world business problems, making it valuable both academically and professionally</a:t>
            </a:r>
            <a:endParaRPr lang="en-US" sz="2400" dirty="0"/>
          </a:p>
        </p:txBody>
      </p:sp>
    </p:spTree>
    <p:extLst>
      <p:ext uri="{BB962C8B-B14F-4D97-AF65-F5344CB8AC3E}">
        <p14:creationId xmlns:p14="http://schemas.microsoft.com/office/powerpoint/2010/main" val="21592051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0B18B-D901-462B-A21A-F6E90D3A4E57}"/>
              </a:ext>
            </a:extLst>
          </p:cNvPr>
          <p:cNvSpPr>
            <a:spLocks noGrp="1"/>
          </p:cNvSpPr>
          <p:nvPr>
            <p:ph type="title"/>
          </p:nvPr>
        </p:nvSpPr>
        <p:spPr/>
        <p:txBody>
          <a:bodyPr/>
          <a:lstStyle/>
          <a:p>
            <a:r>
              <a:rPr lang="en-US" sz="1800" b="1" dirty="0">
                <a:solidFill>
                  <a:srgbClr val="000000"/>
                </a:solidFill>
                <a:effectLst/>
                <a:latin typeface="Times New Roman" panose="02020603050405020304" pitchFamily="18" charset="0"/>
                <a:ea typeface="Times New Roman" panose="02020603050405020304" pitchFamily="18" charset="0"/>
              </a:rPr>
              <a:t>REFERENCES </a:t>
            </a:r>
            <a:br>
              <a:rPr lang="en-US" sz="1800" dirty="0">
                <a:solidFill>
                  <a:srgbClr val="000000"/>
                </a:solidFill>
                <a:effectLst/>
                <a:latin typeface="Times New Roman" panose="02020603050405020304" pitchFamily="18" charset="0"/>
                <a:ea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9399FFA6-B23A-4767-9845-19BF45CBAE36}"/>
              </a:ext>
            </a:extLst>
          </p:cNvPr>
          <p:cNvSpPr>
            <a:spLocks noGrp="1"/>
          </p:cNvSpPr>
          <p:nvPr>
            <p:ph idx="1"/>
          </p:nvPr>
        </p:nvSpPr>
        <p:spPr>
          <a:xfrm>
            <a:off x="838200" y="995081"/>
            <a:ext cx="10515600" cy="5181881"/>
          </a:xfrm>
        </p:spPr>
        <p:txBody>
          <a:bodyPr>
            <a:normAutofit fontScale="25000" lnSpcReduction="20000"/>
          </a:bodyPr>
          <a:lstStyle/>
          <a:p>
            <a:pPr marL="6350" indent="-6350">
              <a:lnSpc>
                <a:spcPct val="107000"/>
              </a:lnSpc>
              <a:spcAft>
                <a:spcPts val="655"/>
              </a:spcAft>
            </a:pPr>
            <a:endParaRPr lang="en-US" sz="1800" dirty="0">
              <a:solidFill>
                <a:srgbClr val="000000"/>
              </a:solidFill>
              <a:effectLst/>
              <a:latin typeface="Times New Roman" panose="02020603050405020304" pitchFamily="18" charset="0"/>
              <a:ea typeface="Times New Roman" panose="02020603050405020304" pitchFamily="18" charset="0"/>
            </a:endParaRPr>
          </a:p>
          <a:p>
            <a:pPr marL="6350" indent="-6350">
              <a:lnSpc>
                <a:spcPct val="107000"/>
              </a:lnSpc>
              <a:spcAft>
                <a:spcPts val="1280"/>
              </a:spcAft>
            </a:pPr>
            <a:r>
              <a:rPr lang="en-US" sz="5000" b="1" dirty="0">
                <a:solidFill>
                  <a:srgbClr val="000000"/>
                </a:solidFill>
                <a:effectLst/>
                <a:latin typeface="Times New Roman" panose="02020603050405020304" pitchFamily="18" charset="0"/>
                <a:ea typeface="Times New Roman" panose="02020603050405020304" pitchFamily="18" charset="0"/>
              </a:rPr>
              <a:t>1</a:t>
            </a:r>
            <a:r>
              <a:rPr lang="en-US" sz="8000" b="1" dirty="0">
                <a:solidFill>
                  <a:srgbClr val="000000"/>
                </a:solidFill>
                <a:effectLst/>
                <a:latin typeface="Times New Roman" panose="02020603050405020304" pitchFamily="18" charset="0"/>
                <a:ea typeface="Times New Roman" panose="02020603050405020304" pitchFamily="18" charset="0"/>
              </a:rPr>
              <a:t>. Kaggle Dataset </a:t>
            </a:r>
            <a:endParaRPr lang="en-US" sz="8000" dirty="0">
              <a:solidFill>
                <a:srgbClr val="000000"/>
              </a:solidFill>
              <a:effectLst/>
              <a:latin typeface="Times New Roman" panose="02020603050405020304" pitchFamily="18" charset="0"/>
              <a:ea typeface="Times New Roman" panose="02020603050405020304" pitchFamily="18" charset="0"/>
            </a:endParaRPr>
          </a:p>
          <a:p>
            <a:pPr marL="6350" indent="-6350">
              <a:lnSpc>
                <a:spcPct val="104000"/>
              </a:lnSpc>
              <a:spcAft>
                <a:spcPts val="1335"/>
              </a:spcAft>
            </a:pPr>
            <a:r>
              <a:rPr lang="en-US" sz="8000" dirty="0">
                <a:solidFill>
                  <a:srgbClr val="000000"/>
                </a:solidFill>
                <a:effectLst/>
                <a:latin typeface="Times New Roman" panose="02020603050405020304" pitchFamily="18" charset="0"/>
                <a:ea typeface="Times New Roman" panose="02020603050405020304" pitchFamily="18" charset="0"/>
              </a:rPr>
              <a:t>Kaggle (n. d) telecom customer churn. Kaggle </a:t>
            </a:r>
          </a:p>
          <a:p>
            <a:pPr marL="6350" indent="-6350">
              <a:lnSpc>
                <a:spcPct val="104000"/>
              </a:lnSpc>
              <a:spcAft>
                <a:spcPts val="1335"/>
              </a:spcAft>
            </a:pPr>
            <a:r>
              <a:rPr lang="en-US" sz="8000" dirty="0">
                <a:solidFill>
                  <a:srgbClr val="000000"/>
                </a:solidFill>
                <a:effectLst/>
                <a:latin typeface="Times New Roman" panose="02020603050405020304" pitchFamily="18" charset="0"/>
                <a:ea typeface="Times New Roman" panose="02020603050405020304" pitchFamily="18" charset="0"/>
              </a:rPr>
              <a:t>McKinney, W. (2017). Python for Data Analysis: data wrangling with pandas and NumPy </a:t>
            </a:r>
          </a:p>
          <a:p>
            <a:pPr marL="6350" indent="-6350">
              <a:lnSpc>
                <a:spcPct val="107000"/>
              </a:lnSpc>
              <a:spcAft>
                <a:spcPts val="655"/>
              </a:spcAft>
            </a:pPr>
            <a:r>
              <a:rPr lang="en-US" sz="8000" dirty="0">
                <a:solidFill>
                  <a:srgbClr val="000000"/>
                </a:solidFill>
                <a:effectLst/>
                <a:latin typeface="Times New Roman" panose="02020603050405020304" pitchFamily="18" charset="0"/>
                <a:ea typeface="Times New Roman" panose="02020603050405020304" pitchFamily="18" charset="0"/>
              </a:rPr>
              <a:t>Kariuki, P., et al. (2022). </a:t>
            </a:r>
            <a:r>
              <a:rPr lang="en-US" sz="8000" i="1" dirty="0">
                <a:solidFill>
                  <a:srgbClr val="000000"/>
                </a:solidFill>
                <a:effectLst/>
                <a:latin typeface="Times New Roman" panose="02020603050405020304" pitchFamily="18" charset="0"/>
                <a:ea typeface="Times New Roman" panose="02020603050405020304" pitchFamily="18" charset="0"/>
              </a:rPr>
              <a:t>Customer Retention Challenges in Kenya’s </a:t>
            </a:r>
            <a:endParaRPr lang="en-US" sz="8000" dirty="0">
              <a:solidFill>
                <a:srgbClr val="000000"/>
              </a:solidFill>
              <a:effectLst/>
              <a:latin typeface="Times New Roman" panose="02020603050405020304" pitchFamily="18" charset="0"/>
              <a:ea typeface="Times New Roman" panose="02020603050405020304" pitchFamily="18" charset="0"/>
            </a:endParaRPr>
          </a:p>
          <a:p>
            <a:pPr marL="6350" indent="-6350">
              <a:lnSpc>
                <a:spcPct val="107000"/>
              </a:lnSpc>
              <a:spcAft>
                <a:spcPts val="1465"/>
              </a:spcAft>
            </a:pPr>
            <a:r>
              <a:rPr lang="en-US" sz="8000" i="1" dirty="0">
                <a:solidFill>
                  <a:srgbClr val="000000"/>
                </a:solidFill>
                <a:effectLst/>
                <a:latin typeface="Times New Roman" panose="02020603050405020304" pitchFamily="18" charset="0"/>
                <a:ea typeface="Times New Roman" panose="02020603050405020304" pitchFamily="18" charset="0"/>
              </a:rPr>
              <a:t>Telecommunications Sector.</a:t>
            </a:r>
            <a:r>
              <a:rPr lang="en-US" sz="8000" dirty="0">
                <a:solidFill>
                  <a:srgbClr val="000000"/>
                </a:solidFill>
                <a:effectLst/>
                <a:latin typeface="Times New Roman" panose="02020603050405020304" pitchFamily="18" charset="0"/>
                <a:ea typeface="Times New Roman" panose="02020603050405020304" pitchFamily="18" charset="0"/>
              </a:rPr>
              <a:t> Journal of Business &amp; Management, 14(2), 45–60. </a:t>
            </a:r>
          </a:p>
          <a:p>
            <a:pPr marL="6350" indent="-6350">
              <a:lnSpc>
                <a:spcPct val="107000"/>
              </a:lnSpc>
              <a:spcAft>
                <a:spcPts val="655"/>
              </a:spcAft>
            </a:pPr>
            <a:r>
              <a:rPr lang="en-US" sz="8000" dirty="0">
                <a:solidFill>
                  <a:srgbClr val="000000"/>
                </a:solidFill>
                <a:effectLst/>
                <a:latin typeface="Times New Roman" panose="02020603050405020304" pitchFamily="18" charset="0"/>
                <a:ea typeface="Times New Roman" panose="02020603050405020304" pitchFamily="18" charset="0"/>
              </a:rPr>
              <a:t>Mwangi, D., &amp; Ochieng, J. (2021). </a:t>
            </a:r>
            <a:r>
              <a:rPr lang="en-US" sz="8000" i="1" dirty="0">
                <a:solidFill>
                  <a:srgbClr val="000000"/>
                </a:solidFill>
                <a:effectLst/>
                <a:latin typeface="Times New Roman" panose="02020603050405020304" pitchFamily="18" charset="0"/>
                <a:ea typeface="Times New Roman" panose="02020603050405020304" pitchFamily="18" charset="0"/>
              </a:rPr>
              <a:t>Data-Driven Customer Churn Analysis in </a:t>
            </a:r>
            <a:endParaRPr lang="en-US" sz="8000" dirty="0">
              <a:solidFill>
                <a:srgbClr val="000000"/>
              </a:solidFill>
              <a:effectLst/>
              <a:latin typeface="Times New Roman" panose="02020603050405020304" pitchFamily="18" charset="0"/>
              <a:ea typeface="Times New Roman" panose="02020603050405020304" pitchFamily="18" charset="0"/>
            </a:endParaRPr>
          </a:p>
          <a:p>
            <a:pPr marL="6350" indent="-6350">
              <a:lnSpc>
                <a:spcPct val="107000"/>
              </a:lnSpc>
              <a:spcAft>
                <a:spcPts val="1460"/>
              </a:spcAft>
            </a:pPr>
            <a:r>
              <a:rPr lang="en-US" sz="8000" i="1" dirty="0">
                <a:solidFill>
                  <a:srgbClr val="000000"/>
                </a:solidFill>
                <a:effectLst/>
                <a:latin typeface="Times New Roman" panose="02020603050405020304" pitchFamily="18" charset="0"/>
                <a:ea typeface="Times New Roman" panose="02020603050405020304" pitchFamily="18" charset="0"/>
              </a:rPr>
              <a:t>Kenyan Telecom Companies.</a:t>
            </a:r>
            <a:r>
              <a:rPr lang="en-US" sz="8000" dirty="0">
                <a:solidFill>
                  <a:srgbClr val="000000"/>
                </a:solidFill>
                <a:effectLst/>
                <a:latin typeface="Times New Roman" panose="02020603050405020304" pitchFamily="18" charset="0"/>
                <a:ea typeface="Times New Roman" panose="02020603050405020304" pitchFamily="18" charset="0"/>
              </a:rPr>
              <a:t> International Journal of Data Analytics, 5(1), 12–25. </a:t>
            </a:r>
          </a:p>
          <a:p>
            <a:pPr marL="6350" indent="-6350">
              <a:lnSpc>
                <a:spcPct val="148000"/>
              </a:lnSpc>
              <a:spcAft>
                <a:spcPts val="795"/>
              </a:spcAft>
            </a:pPr>
            <a:r>
              <a:rPr lang="en-US" sz="8000" dirty="0">
                <a:solidFill>
                  <a:srgbClr val="000000"/>
                </a:solidFill>
                <a:effectLst/>
                <a:latin typeface="Times New Roman" panose="02020603050405020304" pitchFamily="18" charset="0"/>
                <a:ea typeface="Times New Roman" panose="02020603050405020304" pitchFamily="18" charset="0"/>
              </a:rPr>
              <a:t>National Communications Authority (NCA). (2023). </a:t>
            </a:r>
            <a:r>
              <a:rPr lang="en-US" sz="8000" i="1" dirty="0">
                <a:solidFill>
                  <a:srgbClr val="000000"/>
                </a:solidFill>
                <a:effectLst/>
                <a:latin typeface="Times New Roman" panose="02020603050405020304" pitchFamily="18" charset="0"/>
                <a:ea typeface="Times New Roman" panose="02020603050405020304" pitchFamily="18" charset="0"/>
              </a:rPr>
              <a:t>Kenya Telecom Market Report.</a:t>
            </a:r>
            <a:r>
              <a:rPr lang="en-US" sz="8000" dirty="0">
                <a:solidFill>
                  <a:srgbClr val="000000"/>
                </a:solidFill>
                <a:effectLst/>
                <a:latin typeface="Times New Roman" panose="02020603050405020304" pitchFamily="18" charset="0"/>
                <a:ea typeface="Times New Roman" panose="02020603050405020304" pitchFamily="18" charset="0"/>
              </a:rPr>
              <a:t> Government of Kenya. </a:t>
            </a:r>
          </a:p>
          <a:p>
            <a:pPr marL="6350" indent="-6350">
              <a:lnSpc>
                <a:spcPct val="107000"/>
              </a:lnSpc>
              <a:spcAft>
                <a:spcPts val="1460"/>
              </a:spcAft>
            </a:pPr>
            <a:r>
              <a:rPr lang="en-US" sz="8000" dirty="0">
                <a:solidFill>
                  <a:srgbClr val="000000"/>
                </a:solidFill>
                <a:effectLst/>
                <a:latin typeface="Times New Roman" panose="02020603050405020304" pitchFamily="18" charset="0"/>
                <a:ea typeface="Times New Roman" panose="02020603050405020304" pitchFamily="18" charset="0"/>
              </a:rPr>
              <a:t>World Bank. (2021). </a:t>
            </a:r>
            <a:r>
              <a:rPr lang="en-US" sz="8000" i="1" dirty="0">
                <a:solidFill>
                  <a:srgbClr val="000000"/>
                </a:solidFill>
                <a:effectLst/>
                <a:latin typeface="Times New Roman" panose="02020603050405020304" pitchFamily="18" charset="0"/>
                <a:ea typeface="Times New Roman" panose="02020603050405020304" pitchFamily="18" charset="0"/>
              </a:rPr>
              <a:t>Digital Economy and Telecommunications in Kenya.</a:t>
            </a:r>
            <a:r>
              <a:rPr lang="en-US" sz="8000" dirty="0">
                <a:solidFill>
                  <a:srgbClr val="000000"/>
                </a:solidFill>
                <a:effectLst/>
                <a:latin typeface="Times New Roman" panose="02020603050405020304" pitchFamily="18" charset="0"/>
                <a:ea typeface="Times New Roman" panose="02020603050405020304" pitchFamily="18" charset="0"/>
              </a:rPr>
              <a:t> </a:t>
            </a:r>
          </a:p>
          <a:p>
            <a:endParaRPr lang="en-US" dirty="0"/>
          </a:p>
        </p:txBody>
      </p:sp>
    </p:spTree>
    <p:extLst>
      <p:ext uri="{BB962C8B-B14F-4D97-AF65-F5344CB8AC3E}">
        <p14:creationId xmlns:p14="http://schemas.microsoft.com/office/powerpoint/2010/main" val="24969108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3241</TotalTime>
  <Words>1207</Words>
  <Application>Microsoft Office PowerPoint</Application>
  <PresentationFormat>Widescreen</PresentationFormat>
  <Paragraphs>48</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Times New Roman</vt:lpstr>
      <vt:lpstr>Office Theme</vt:lpstr>
      <vt:lpstr>PowerPoint Presentation</vt:lpstr>
      <vt:lpstr>INTROCUTION  </vt:lpstr>
      <vt:lpstr>BACKGROUND STUDY  </vt:lpstr>
      <vt:lpstr>  LITERATURE REVIEW  </vt:lpstr>
      <vt:lpstr>OBJECTIVES OF THE STUDY  </vt:lpstr>
      <vt:lpstr>METHODOLOGY  </vt:lpstr>
      <vt:lpstr>  PROBLEM STATEMENT  </vt:lpstr>
      <vt:lpstr>PROBLEM JUSTIFICATION  </vt:lpstr>
      <vt:lpstr>REFERENCES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Neicy Neema</cp:lastModifiedBy>
  <cp:revision>11</cp:revision>
  <dcterms:created xsi:type="dcterms:W3CDTF">2026-02-11T14:03:19Z</dcterms:created>
  <dcterms:modified xsi:type="dcterms:W3CDTF">2026-03-07T18:47:39Z</dcterms:modified>
</cp:coreProperties>
</file>